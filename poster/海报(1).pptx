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"/>
  </p:notesMasterIdLst>
  <p:handoutMasterIdLst>
    <p:handoutMasterId r:id="rId5"/>
  </p:handoutMasterIdLst>
  <p:sldIdLst>
    <p:sldId id="272" r:id="rId3"/>
  </p:sldIdLst>
  <p:sldSz cx="32399288" cy="43200638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60" userDrawn="1">
          <p15:clr>
            <a:srgbClr val="A4A3A4"/>
          </p15:clr>
        </p15:guide>
        <p15:guide id="2" pos="19831" userDrawn="1">
          <p15:clr>
            <a:srgbClr val="A4A3A4"/>
          </p15:clr>
        </p15:guide>
        <p15:guide id="3" orient="horz" pos="566" userDrawn="1">
          <p15:clr>
            <a:srgbClr val="A4A3A4"/>
          </p15:clr>
        </p15:guide>
        <p15:guide id="4" orient="horz" pos="266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2C8A"/>
    <a:srgbClr val="670875"/>
    <a:srgbClr val="8563B8"/>
    <a:srgbClr val="C8B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75" autoAdjust="0"/>
    <p:restoredTop sz="94660"/>
  </p:normalViewPr>
  <p:slideViewPr>
    <p:cSldViewPr snapToGrid="0" showGuides="1">
      <p:cViewPr>
        <p:scale>
          <a:sx n="21" d="100"/>
          <a:sy n="21" d="100"/>
        </p:scale>
        <p:origin x="2468" y="12"/>
      </p:cViewPr>
      <p:guideLst>
        <p:guide pos="660"/>
        <p:guide pos="19831"/>
        <p:guide orient="horz" pos="566"/>
        <p:guide orient="horz" pos="2664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076" y="60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8A408FD-505A-4AE3-B819-57B43CA231D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377DC2D-4687-4523-ADB3-E913CC15D9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AE52C4A-761F-47E0-A562-4E954A42776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9525"/>
            <a:ext cx="25892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BFBE751-7E00-45D9-A2AA-3AE6EDD6B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多字少用这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34154" y="9557628"/>
            <a:ext cx="10974617" cy="9778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作者</a:t>
            </a:r>
            <a:r>
              <a:rPr lang="en-US" altLang="zh-CN" dirty="0"/>
              <a:t>1</a:t>
            </a:r>
            <a:r>
              <a:rPr lang="zh-CN" altLang="en-US" dirty="0"/>
              <a:t> 作者</a:t>
            </a:r>
            <a:r>
              <a:rPr lang="en-US" altLang="zh-CN" dirty="0"/>
              <a:t>2</a:t>
            </a:r>
            <a:r>
              <a:rPr lang="zh-CN" altLang="en-US" dirty="0"/>
              <a:t> 作者</a:t>
            </a:r>
            <a:r>
              <a:rPr lang="en-US" altLang="zh-CN" dirty="0"/>
              <a:t>3</a:t>
            </a:r>
            <a:r>
              <a:rPr lang="zh-CN" altLang="en-US" dirty="0"/>
              <a:t> 作者</a:t>
            </a:r>
            <a:r>
              <a:rPr lang="en-US" altLang="zh-CN" dirty="0"/>
              <a:t>4 </a:t>
            </a:r>
            <a:r>
              <a:rPr lang="zh-CN" altLang="en-US" dirty="0"/>
              <a:t>作者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785" y="11359619"/>
            <a:ext cx="30595977" cy="62297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0"/>
              </a:spcAft>
              <a:buNone/>
              <a:defRPr sz="72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080135" indent="0">
              <a:spcAft>
                <a:spcPts val="1000"/>
              </a:spcAft>
              <a:buNone/>
              <a:defRPr sz="6000" b="1">
                <a:latin typeface="微软雅黑" panose="020B0503020204020204" charset="-122"/>
                <a:ea typeface="微软雅黑" panose="020B0503020204020204" charset="-122"/>
              </a:defRPr>
            </a:lvl2pPr>
            <a:lvl3pPr marL="1080135" indent="1259840">
              <a:lnSpc>
                <a:spcPct val="100000"/>
              </a:lnSpc>
              <a:spcBef>
                <a:spcPts val="1000"/>
              </a:spcBef>
              <a:buNone/>
              <a:defRPr sz="4800">
                <a:latin typeface="微软雅黑" panose="020B0503020204020204" charset="-122"/>
                <a:ea typeface="微软雅黑" panose="020B0503020204020204" charset="-122"/>
              </a:defRPr>
            </a:lvl3pPr>
            <a:lvl4pPr marL="4859655" indent="0">
              <a:buNone/>
              <a:defRPr sz="3600">
                <a:latin typeface="微软雅黑" panose="020B0503020204020204" charset="-122"/>
                <a:ea typeface="微软雅黑" panose="020B0503020204020204" charset="-122"/>
              </a:defRPr>
            </a:lvl4pPr>
            <a:lvl5pPr marL="6479540" indent="0">
              <a:buNone/>
              <a:defRPr sz="4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节标题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</a:p>
          <a:p>
            <a:pPr lvl="1"/>
            <a:r>
              <a:rPr lang="zh-CN" altLang="en-US" dirty="0"/>
              <a:t>正文标题</a:t>
            </a:r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5" hasCustomPrompt="1"/>
          </p:nvPr>
        </p:nvSpPr>
        <p:spPr>
          <a:xfrm>
            <a:off x="17082748" y="9612344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指导教师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898525" y="5952812"/>
            <a:ext cx="11333166" cy="1368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Title in English</a:t>
            </a:r>
            <a:endParaRPr lang="zh-CN" altLang="en-US" dirty="0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9" hasCustomPrompt="1"/>
          </p:nvPr>
        </p:nvSpPr>
        <p:spPr>
          <a:xfrm>
            <a:off x="898525" y="27730574"/>
            <a:ext cx="30602238" cy="6229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7200" b="1" kern="1200" dirty="0" smtClean="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619885" indent="0">
              <a:buNone/>
              <a:defRPr lang="zh-CN" altLang="en-US" sz="6000" b="1" kern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0">
              <a:buNone/>
              <a:defRPr lang="zh-CN" altLang="en-US" sz="4800" kern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marL="0" lv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</a:pPr>
            <a:r>
              <a:rPr lang="zh-CN" altLang="en-US" dirty="0"/>
              <a:t>节标题</a:t>
            </a:r>
            <a:r>
              <a:rPr lang="en-US" altLang="zh-CN" dirty="0"/>
              <a:t>2</a:t>
            </a:r>
            <a:endParaRPr lang="zh-CN" altLang="en-US" dirty="0"/>
          </a:p>
          <a:p>
            <a:pPr marL="1080135" lvl="1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zh-CN" altLang="en-US" dirty="0"/>
              <a:t>正文标题</a:t>
            </a:r>
          </a:p>
          <a:p>
            <a:pPr marL="1080135" lvl="2" indent="1259840" algn="l" defTabSz="323977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</a:p>
          <a:p>
            <a:pPr marL="1080135" lvl="2" indent="1259840" algn="l" defTabSz="323977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这是正文。</a:t>
            </a:r>
          </a:p>
        </p:txBody>
      </p:sp>
      <p:sp>
        <p:nvSpPr>
          <p:cNvPr id="37" name="图片占位符 36"/>
          <p:cNvSpPr>
            <a:spLocks noGrp="1"/>
          </p:cNvSpPr>
          <p:nvPr>
            <p:ph type="pic" sz="quarter" idx="20" hasCustomPrompt="1"/>
          </p:nvPr>
        </p:nvSpPr>
        <p:spPr>
          <a:xfrm>
            <a:off x="11943114" y="18413489"/>
            <a:ext cx="8640000" cy="54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21" hasCustomPrompt="1"/>
          </p:nvPr>
        </p:nvSpPr>
        <p:spPr>
          <a:xfrm>
            <a:off x="915216" y="7561908"/>
            <a:ext cx="7807325" cy="17491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中文标题</a:t>
            </a:r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22" hasCustomPrompt="1"/>
          </p:nvPr>
        </p:nvSpPr>
        <p:spPr>
          <a:xfrm>
            <a:off x="14653997" y="2438703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23" hasCustomPrompt="1"/>
          </p:nvPr>
        </p:nvSpPr>
        <p:spPr>
          <a:xfrm>
            <a:off x="13831489" y="25216584"/>
            <a:ext cx="5014912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</a:p>
        </p:txBody>
      </p:sp>
      <p:sp>
        <p:nvSpPr>
          <p:cNvPr id="47" name="文本占位符 40"/>
          <p:cNvSpPr>
            <a:spLocks noGrp="1"/>
          </p:cNvSpPr>
          <p:nvPr>
            <p:ph type="body" sz="quarter" idx="24" hasCustomPrompt="1"/>
          </p:nvPr>
        </p:nvSpPr>
        <p:spPr>
          <a:xfrm>
            <a:off x="3714048" y="2438703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</a:p>
        </p:txBody>
      </p:sp>
      <p:sp>
        <p:nvSpPr>
          <p:cNvPr id="48" name="文本占位符 44"/>
          <p:cNvSpPr>
            <a:spLocks noGrp="1"/>
          </p:cNvSpPr>
          <p:nvPr>
            <p:ph type="body" sz="quarter" idx="25" hasCustomPrompt="1"/>
          </p:nvPr>
        </p:nvSpPr>
        <p:spPr>
          <a:xfrm>
            <a:off x="2891540" y="25216584"/>
            <a:ext cx="5014912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</a:p>
        </p:txBody>
      </p:sp>
      <p:sp>
        <p:nvSpPr>
          <p:cNvPr id="49" name="文本占位符 40"/>
          <p:cNvSpPr>
            <a:spLocks noGrp="1"/>
          </p:cNvSpPr>
          <p:nvPr>
            <p:ph type="body" sz="quarter" idx="26" hasCustomPrompt="1"/>
          </p:nvPr>
        </p:nvSpPr>
        <p:spPr>
          <a:xfrm>
            <a:off x="25757348" y="2438703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</a:p>
        </p:txBody>
      </p:sp>
      <p:sp>
        <p:nvSpPr>
          <p:cNvPr id="50" name="文本占位符 44"/>
          <p:cNvSpPr>
            <a:spLocks noGrp="1"/>
          </p:cNvSpPr>
          <p:nvPr>
            <p:ph type="body" sz="quarter" idx="27" hasCustomPrompt="1"/>
          </p:nvPr>
        </p:nvSpPr>
        <p:spPr>
          <a:xfrm>
            <a:off x="24934840" y="25216584"/>
            <a:ext cx="5014912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</a:p>
        </p:txBody>
      </p:sp>
      <p:sp>
        <p:nvSpPr>
          <p:cNvPr id="51" name="图片占位符 36"/>
          <p:cNvSpPr>
            <a:spLocks noGrp="1"/>
          </p:cNvSpPr>
          <p:nvPr>
            <p:ph type="pic" sz="quarter" idx="28" hasCustomPrompt="1"/>
          </p:nvPr>
        </p:nvSpPr>
        <p:spPr>
          <a:xfrm>
            <a:off x="898525" y="18429195"/>
            <a:ext cx="8640000" cy="54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</a:p>
        </p:txBody>
      </p:sp>
      <p:sp>
        <p:nvSpPr>
          <p:cNvPr id="52" name="图片占位符 36"/>
          <p:cNvSpPr>
            <a:spLocks noGrp="1"/>
          </p:cNvSpPr>
          <p:nvPr>
            <p:ph type="pic" sz="quarter" idx="29" hasCustomPrompt="1"/>
          </p:nvPr>
        </p:nvSpPr>
        <p:spPr>
          <a:xfrm>
            <a:off x="22860763" y="18388252"/>
            <a:ext cx="8640000" cy="54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</a:p>
        </p:txBody>
      </p:sp>
      <p:sp>
        <p:nvSpPr>
          <p:cNvPr id="53" name="图片占位符 36"/>
          <p:cNvSpPr>
            <a:spLocks noGrp="1"/>
          </p:cNvSpPr>
          <p:nvPr>
            <p:ph type="pic" sz="quarter" idx="30" hasCustomPrompt="1"/>
          </p:nvPr>
        </p:nvSpPr>
        <p:spPr>
          <a:xfrm>
            <a:off x="898525" y="34690873"/>
            <a:ext cx="30602237" cy="41464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此处可放图片，注意图片边界不宜超过参考线</a:t>
            </a:r>
          </a:p>
        </p:txBody>
      </p:sp>
      <p:sp>
        <p:nvSpPr>
          <p:cNvPr id="54" name="文本占位符 40"/>
          <p:cNvSpPr>
            <a:spLocks noGrp="1"/>
          </p:cNvSpPr>
          <p:nvPr>
            <p:ph type="body" sz="quarter" idx="31" hasCustomPrompt="1"/>
          </p:nvPr>
        </p:nvSpPr>
        <p:spPr>
          <a:xfrm>
            <a:off x="14578166" y="39205352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</a:p>
        </p:txBody>
      </p:sp>
      <p:sp>
        <p:nvSpPr>
          <p:cNvPr id="55" name="文本占位符 44"/>
          <p:cNvSpPr>
            <a:spLocks noGrp="1"/>
          </p:cNvSpPr>
          <p:nvPr>
            <p:ph type="body" sz="quarter" idx="32" hasCustomPrompt="1"/>
          </p:nvPr>
        </p:nvSpPr>
        <p:spPr>
          <a:xfrm>
            <a:off x="5083932" y="40034898"/>
            <a:ext cx="22358364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ctr" defTabSz="3239770" rtl="0" eaLnBrk="1" fontAlgn="auto" latinLnBrk="0" hangingPunct="1">
              <a:lnSpc>
                <a:spcPct val="100000"/>
              </a:lnSpc>
              <a:spcBef>
                <a:spcPts val="35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图注，这是图注图注，这是图图注，这是图图注，这是图图注，这是图图注，这是图注图注，这是图图注，这是图图注，这是图图注，这是图注，这是图注图注，这是图图注，这是图图注，这是图图注，这是图图注，这是图注图注，这是图图注，这是图图注，这是图图注，这是图图注，这是图注图注，这是图图注，这是图图注，这是图图注，这是图</a:t>
            </a:r>
          </a:p>
        </p:txBody>
      </p:sp>
      <p:sp>
        <p:nvSpPr>
          <p:cNvPr id="4" name="文本占位符 22"/>
          <p:cNvSpPr>
            <a:spLocks noGrp="1"/>
          </p:cNvSpPr>
          <p:nvPr>
            <p:ph type="body" sz="quarter" idx="33" hasCustomPrompt="1"/>
          </p:nvPr>
        </p:nvSpPr>
        <p:spPr>
          <a:xfrm>
            <a:off x="23977826" y="9639451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所属课组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少字多用这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98525" y="11352985"/>
            <a:ext cx="14894535" cy="219911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0"/>
              </a:spcAft>
              <a:buNone/>
              <a:defRPr sz="72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080135" indent="0">
              <a:spcAft>
                <a:spcPts val="1000"/>
              </a:spcAft>
              <a:buNone/>
              <a:defRPr sz="6000" b="1">
                <a:latin typeface="微软雅黑" panose="020B0503020204020204" charset="-122"/>
                <a:ea typeface="微软雅黑" panose="020B0503020204020204" charset="-122"/>
              </a:defRPr>
            </a:lvl2pPr>
            <a:lvl3pPr marL="1080135" indent="1043940">
              <a:lnSpc>
                <a:spcPct val="105000"/>
              </a:lnSpc>
              <a:spcBef>
                <a:spcPts val="900"/>
              </a:spcBef>
              <a:buNone/>
              <a:defRPr sz="4000">
                <a:latin typeface="微软雅黑" panose="020B0503020204020204" charset="-122"/>
                <a:ea typeface="微软雅黑" panose="020B0503020204020204" charset="-122"/>
              </a:defRPr>
            </a:lvl3pPr>
            <a:lvl4pPr marL="4859655" indent="0">
              <a:buNone/>
              <a:defRPr sz="3600">
                <a:latin typeface="微软雅黑" panose="020B0503020204020204" charset="-122"/>
                <a:ea typeface="微软雅黑" panose="020B0503020204020204" charset="-122"/>
              </a:defRPr>
            </a:lvl4pPr>
            <a:lvl5pPr marL="6479540" indent="0">
              <a:buNone/>
              <a:defRPr sz="4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节标题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</a:p>
          <a:p>
            <a:pPr lvl="1"/>
            <a:r>
              <a:rPr lang="zh-CN" altLang="en-US" dirty="0"/>
              <a:t>正文标题</a:t>
            </a:r>
            <a:r>
              <a:rPr lang="en-US" altLang="zh-CN" dirty="0"/>
              <a:t>1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这是正文。这是正文。</a:t>
            </a:r>
          </a:p>
          <a:p>
            <a:pPr lvl="2"/>
            <a:r>
              <a:rPr lang="zh-CN" altLang="en-US" dirty="0"/>
              <a:t>这是正文。</a:t>
            </a:r>
          </a:p>
        </p:txBody>
      </p:sp>
      <p:sp>
        <p:nvSpPr>
          <p:cNvPr id="53" name="图片占位符 36"/>
          <p:cNvSpPr>
            <a:spLocks noGrp="1"/>
          </p:cNvSpPr>
          <p:nvPr>
            <p:ph type="pic" sz="quarter" idx="30" hasCustomPrompt="1"/>
          </p:nvPr>
        </p:nvSpPr>
        <p:spPr>
          <a:xfrm>
            <a:off x="898525" y="34211235"/>
            <a:ext cx="30602238" cy="41464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此处可放跨栏图片，注意图片边界不宜超过参考线</a:t>
            </a:r>
          </a:p>
        </p:txBody>
      </p:sp>
      <p:sp>
        <p:nvSpPr>
          <p:cNvPr id="54" name="文本占位符 40"/>
          <p:cNvSpPr>
            <a:spLocks noGrp="1"/>
          </p:cNvSpPr>
          <p:nvPr>
            <p:ph type="body" sz="quarter" idx="31" hasCustomPrompt="1"/>
          </p:nvPr>
        </p:nvSpPr>
        <p:spPr>
          <a:xfrm>
            <a:off x="14273802" y="3870231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</a:p>
        </p:txBody>
      </p:sp>
      <p:sp>
        <p:nvSpPr>
          <p:cNvPr id="55" name="文本占位符 44"/>
          <p:cNvSpPr>
            <a:spLocks noGrp="1"/>
          </p:cNvSpPr>
          <p:nvPr>
            <p:ph type="body" sz="quarter" idx="32" hasCustomPrompt="1"/>
          </p:nvPr>
        </p:nvSpPr>
        <p:spPr>
          <a:xfrm>
            <a:off x="4781156" y="39586015"/>
            <a:ext cx="22358364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ctr" defTabSz="3239770" rtl="0" eaLnBrk="1" fontAlgn="auto" latinLnBrk="0" hangingPunct="1">
              <a:lnSpc>
                <a:spcPct val="100000"/>
              </a:lnSpc>
              <a:spcBef>
                <a:spcPts val="35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图注，这是图注图注，这是图图注，这是图图注，这是图图注，这是图图注，这是图注图注，这是图图注，这是图图注，这是图图注，这是图注，这是图注图注，这是图图注，这是图图注，这是图图注，这是图图注，这是图注图注，这是图图注，这是图图注，这是图图注，这是图图注，这是图注图注，这是图图注，这是图图注，这是图图注，这是图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33" hasCustomPrompt="1"/>
          </p:nvPr>
        </p:nvSpPr>
        <p:spPr>
          <a:xfrm>
            <a:off x="16682811" y="11352985"/>
            <a:ext cx="14817952" cy="92614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0"/>
              </a:spcAft>
              <a:buNone/>
              <a:defRPr sz="72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080135" indent="0">
              <a:spcAft>
                <a:spcPts val="1000"/>
              </a:spcAft>
              <a:buNone/>
              <a:defRPr sz="6000" b="1">
                <a:latin typeface="微软雅黑" panose="020B0503020204020204" charset="-122"/>
                <a:ea typeface="微软雅黑" panose="020B0503020204020204" charset="-122"/>
              </a:defRPr>
            </a:lvl2pPr>
            <a:lvl3pPr marL="1080135" indent="1043940">
              <a:lnSpc>
                <a:spcPct val="105000"/>
              </a:lnSpc>
              <a:spcBef>
                <a:spcPts val="900"/>
              </a:spcBef>
              <a:buNone/>
              <a:defRPr sz="4000">
                <a:latin typeface="微软雅黑" panose="020B0503020204020204" charset="-122"/>
                <a:ea typeface="微软雅黑" panose="020B0503020204020204" charset="-122"/>
              </a:defRPr>
            </a:lvl3pPr>
            <a:lvl4pPr marL="4859655" indent="0">
              <a:buNone/>
              <a:defRPr sz="3600">
                <a:latin typeface="微软雅黑" panose="020B0503020204020204" charset="-122"/>
                <a:ea typeface="微软雅黑" panose="020B0503020204020204" charset="-122"/>
              </a:defRPr>
            </a:lvl4pPr>
            <a:lvl5pPr marL="6479540" indent="0">
              <a:buNone/>
              <a:defRPr sz="4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节标题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</a:p>
          <a:p>
            <a:pPr lvl="1"/>
            <a:r>
              <a:rPr lang="zh-CN" altLang="en-US" dirty="0"/>
              <a:t>正文标题</a:t>
            </a:r>
            <a:r>
              <a:rPr lang="en-US" altLang="zh-CN" dirty="0"/>
              <a:t>2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</a:p>
        </p:txBody>
      </p:sp>
      <p:sp>
        <p:nvSpPr>
          <p:cNvPr id="26" name="图片占位符 36"/>
          <p:cNvSpPr>
            <a:spLocks noGrp="1"/>
          </p:cNvSpPr>
          <p:nvPr>
            <p:ph type="pic" sz="quarter" idx="34" hasCustomPrompt="1"/>
          </p:nvPr>
        </p:nvSpPr>
        <p:spPr>
          <a:xfrm>
            <a:off x="16675640" y="21484428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</a:p>
        </p:txBody>
      </p:sp>
      <p:sp>
        <p:nvSpPr>
          <p:cNvPr id="27" name="图片占位符 36"/>
          <p:cNvSpPr>
            <a:spLocks noGrp="1"/>
          </p:cNvSpPr>
          <p:nvPr>
            <p:ph type="pic" sz="quarter" idx="35" hasCustomPrompt="1"/>
          </p:nvPr>
        </p:nvSpPr>
        <p:spPr>
          <a:xfrm>
            <a:off x="25200763" y="21484428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</a:p>
        </p:txBody>
      </p:sp>
      <p:sp>
        <p:nvSpPr>
          <p:cNvPr id="32" name="文本占位符 40"/>
          <p:cNvSpPr>
            <a:spLocks noGrp="1"/>
          </p:cNvSpPr>
          <p:nvPr>
            <p:ph type="body" sz="quarter" idx="38" hasCustomPrompt="1"/>
          </p:nvPr>
        </p:nvSpPr>
        <p:spPr>
          <a:xfrm>
            <a:off x="22406839" y="30701123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</a:p>
        </p:txBody>
      </p:sp>
      <p:sp>
        <p:nvSpPr>
          <p:cNvPr id="34" name="文本占位符 44"/>
          <p:cNvSpPr>
            <a:spLocks noGrp="1"/>
          </p:cNvSpPr>
          <p:nvPr>
            <p:ph type="body" sz="quarter" idx="39" hasCustomPrompt="1"/>
          </p:nvPr>
        </p:nvSpPr>
        <p:spPr>
          <a:xfrm>
            <a:off x="20941787" y="31716901"/>
            <a:ext cx="6300000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</a:p>
        </p:txBody>
      </p:sp>
      <p:sp>
        <p:nvSpPr>
          <p:cNvPr id="4" name="图片占位符 36"/>
          <p:cNvSpPr>
            <a:spLocks noGrp="1"/>
          </p:cNvSpPr>
          <p:nvPr>
            <p:ph type="pic" sz="quarter" idx="40" hasCustomPrompt="1"/>
          </p:nvPr>
        </p:nvSpPr>
        <p:spPr>
          <a:xfrm>
            <a:off x="16675640" y="26209564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</a:p>
        </p:txBody>
      </p:sp>
      <p:sp>
        <p:nvSpPr>
          <p:cNvPr id="5" name="图片占位符 36"/>
          <p:cNvSpPr>
            <a:spLocks noGrp="1"/>
          </p:cNvSpPr>
          <p:nvPr>
            <p:ph type="pic" sz="quarter" idx="41" hasCustomPrompt="1"/>
          </p:nvPr>
        </p:nvSpPr>
        <p:spPr>
          <a:xfrm>
            <a:off x="25200763" y="26209564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34154" y="9557628"/>
            <a:ext cx="10974617" cy="9778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作者</a:t>
            </a:r>
            <a:r>
              <a:rPr lang="en-US" altLang="zh-CN" dirty="0"/>
              <a:t>1</a:t>
            </a:r>
            <a:r>
              <a:rPr lang="zh-CN" altLang="en-US" dirty="0"/>
              <a:t> 作者</a:t>
            </a:r>
            <a:r>
              <a:rPr lang="en-US" altLang="zh-CN" dirty="0"/>
              <a:t>2</a:t>
            </a:r>
            <a:r>
              <a:rPr lang="zh-CN" altLang="en-US" dirty="0"/>
              <a:t> 作者</a:t>
            </a:r>
            <a:r>
              <a:rPr lang="en-US" altLang="zh-CN" dirty="0"/>
              <a:t>3</a:t>
            </a:r>
            <a:r>
              <a:rPr lang="zh-CN" altLang="en-US" dirty="0"/>
              <a:t> 作者</a:t>
            </a:r>
            <a:r>
              <a:rPr lang="en-US" altLang="zh-CN" dirty="0"/>
              <a:t>4 </a:t>
            </a:r>
            <a:r>
              <a:rPr lang="zh-CN" altLang="en-US" dirty="0"/>
              <a:t>作者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9" name="文本占位符 22"/>
          <p:cNvSpPr>
            <a:spLocks noGrp="1"/>
          </p:cNvSpPr>
          <p:nvPr>
            <p:ph type="body" sz="quarter" idx="15" hasCustomPrompt="1"/>
          </p:nvPr>
        </p:nvSpPr>
        <p:spPr>
          <a:xfrm>
            <a:off x="17082748" y="9612344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指导教师</a:t>
            </a:r>
          </a:p>
        </p:txBody>
      </p:sp>
      <p:sp>
        <p:nvSpPr>
          <p:cNvPr id="1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898525" y="5952812"/>
            <a:ext cx="11333166" cy="1368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Title in English</a:t>
            </a:r>
            <a:endParaRPr lang="zh-CN" altLang="en-US" dirty="0"/>
          </a:p>
        </p:txBody>
      </p:sp>
      <p:sp>
        <p:nvSpPr>
          <p:cNvPr id="11" name="文本占位符 38"/>
          <p:cNvSpPr>
            <a:spLocks noGrp="1"/>
          </p:cNvSpPr>
          <p:nvPr>
            <p:ph type="body" sz="quarter" idx="21" hasCustomPrompt="1"/>
          </p:nvPr>
        </p:nvSpPr>
        <p:spPr>
          <a:xfrm>
            <a:off x="915216" y="7561908"/>
            <a:ext cx="7807325" cy="17491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中文标题</a:t>
            </a:r>
          </a:p>
        </p:txBody>
      </p:sp>
      <p:sp>
        <p:nvSpPr>
          <p:cNvPr id="12" name="文本占位符 22"/>
          <p:cNvSpPr>
            <a:spLocks noGrp="1"/>
          </p:cNvSpPr>
          <p:nvPr>
            <p:ph type="body" sz="quarter" idx="42" hasCustomPrompt="1"/>
          </p:nvPr>
        </p:nvSpPr>
        <p:spPr>
          <a:xfrm>
            <a:off x="23977826" y="9639451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所属课组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AE7F4"/>
            </a:gs>
            <a:gs pos="0">
              <a:schemeClr val="accent1">
                <a:lumMod val="5000"/>
                <a:lumOff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EAE7F4"/>
            </a:gs>
            <a:gs pos="0">
              <a:schemeClr val="accent1">
                <a:lumMod val="5000"/>
                <a:lumOff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43710"/>
            <a:ext cx="32399288" cy="4039105"/>
          </a:xfrm>
          <a:prstGeom prst="rect">
            <a:avLst/>
          </a:prstGeom>
          <a:solidFill>
            <a:srgbClr val="670875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" name="矩形 3"/>
          <p:cNvSpPr/>
          <p:nvPr userDrawn="1"/>
        </p:nvSpPr>
        <p:spPr>
          <a:xfrm>
            <a:off x="1474094" y="1487505"/>
            <a:ext cx="19587585" cy="295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1500"/>
              </a:lnSpc>
            </a:pP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为先书院“</a:t>
            </a:r>
            <a:r>
              <a:rPr lang="en-US" altLang="zh-CN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X-4-X”</a:t>
            </a: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科创大赛</a:t>
            </a:r>
          </a:p>
          <a:p>
            <a:pPr>
              <a:lnSpc>
                <a:spcPts val="11500"/>
              </a:lnSpc>
            </a:pP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暨</a:t>
            </a:r>
            <a:r>
              <a:rPr lang="en-US" altLang="zh-CN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科技创新与挑战</a:t>
            </a:r>
            <a:r>
              <a:rPr lang="en-US" altLang="zh-CN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2》</a:t>
            </a: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课程分享交流会</a:t>
            </a:r>
            <a:endParaRPr lang="zh-CN" altLang="en-US" sz="8400" b="1" dirty="0">
              <a:solidFill>
                <a:schemeClr val="bg1"/>
              </a:solidFill>
            </a:endParaRPr>
          </a:p>
        </p:txBody>
      </p:sp>
      <p:pic>
        <p:nvPicPr>
          <p:cNvPr id="65" name="图形 6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" r="62394"/>
          <a:stretch>
            <a:fillRect/>
          </a:stretch>
        </p:blipFill>
        <p:spPr>
          <a:xfrm>
            <a:off x="23294780" y="1949262"/>
            <a:ext cx="5087730" cy="2160516"/>
          </a:xfrm>
          <a:prstGeom prst="rect">
            <a:avLst/>
          </a:prstGeom>
          <a:effectLst/>
        </p:spPr>
      </p:pic>
      <p:pic>
        <p:nvPicPr>
          <p:cNvPr id="66" name="图片 65" descr="徽标&#10;&#10;描述已自动生成"/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291" y="1207521"/>
            <a:ext cx="6476599" cy="36439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3239770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0260" indent="-810260" algn="l" defTabSz="3239770" rtl="0" eaLnBrk="1" latinLnBrk="0" hangingPunct="1">
        <a:lnSpc>
          <a:spcPct val="90000"/>
        </a:lnSpc>
        <a:spcBef>
          <a:spcPts val="3545"/>
        </a:spcBef>
        <a:buFont typeface="Arial" panose="020B0604020202020204" pitchFamily="34" charset="0"/>
        <a:buChar char="•"/>
        <a:defRPr sz="9920" kern="1200">
          <a:solidFill>
            <a:schemeClr val="tx1"/>
          </a:solidFill>
          <a:latin typeface="+mn-lt"/>
          <a:ea typeface="+mn-ea"/>
          <a:cs typeface="+mn-cs"/>
        </a:defRPr>
      </a:lvl1pPr>
      <a:lvl2pPr marL="243014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8505" kern="1200">
          <a:solidFill>
            <a:schemeClr val="tx1"/>
          </a:solidFill>
          <a:latin typeface="+mn-lt"/>
          <a:ea typeface="+mn-ea"/>
          <a:cs typeface="+mn-cs"/>
        </a:defRPr>
      </a:lvl2pPr>
      <a:lvl3pPr marL="405003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3pPr>
      <a:lvl4pPr marL="566991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728980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90968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1052957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214945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376934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1pPr>
      <a:lvl2pPr marL="161988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2pPr>
      <a:lvl3pPr marL="323977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3pPr>
      <a:lvl4pPr marL="485965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647954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10006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971994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133983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295971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同侧圆角矩形 8">
            <a:extLst>
              <a:ext uri="{FF2B5EF4-FFF2-40B4-BE49-F238E27FC236}">
                <a16:creationId xmlns:a16="http://schemas.microsoft.com/office/drawing/2014/main" id="{18AE18D5-835F-5E8B-6D70-5F7C8AB079F0}"/>
              </a:ext>
            </a:extLst>
          </p:cNvPr>
          <p:cNvSpPr/>
          <p:nvPr/>
        </p:nvSpPr>
        <p:spPr>
          <a:xfrm>
            <a:off x="21561458" y="37465732"/>
            <a:ext cx="10544871" cy="4878457"/>
          </a:xfrm>
          <a:prstGeom prst="round2SameRect">
            <a:avLst>
              <a:gd name="adj1" fmla="val 6949"/>
              <a:gd name="adj2" fmla="val 0"/>
            </a:avLst>
          </a:pr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8" name="同侧圆角矩形 8">
            <a:extLst>
              <a:ext uri="{FF2B5EF4-FFF2-40B4-BE49-F238E27FC236}">
                <a16:creationId xmlns:a16="http://schemas.microsoft.com/office/drawing/2014/main" id="{36F350E9-71A7-8B6D-0872-BF0A21161DF4}"/>
              </a:ext>
            </a:extLst>
          </p:cNvPr>
          <p:cNvSpPr/>
          <p:nvPr/>
        </p:nvSpPr>
        <p:spPr>
          <a:xfrm>
            <a:off x="21561458" y="24908431"/>
            <a:ext cx="10544871" cy="11171817"/>
          </a:xfrm>
          <a:prstGeom prst="round2SameRect">
            <a:avLst>
              <a:gd name="adj1" fmla="val 6949"/>
              <a:gd name="adj2" fmla="val 0"/>
            </a:avLst>
          </a:pr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" name="同侧圆角矩形 8">
            <a:extLst>
              <a:ext uri="{FF2B5EF4-FFF2-40B4-BE49-F238E27FC236}">
                <a16:creationId xmlns:a16="http://schemas.microsoft.com/office/drawing/2014/main" id="{2F325049-6C76-AD8F-64FD-AB7F1BBB3069}"/>
              </a:ext>
            </a:extLst>
          </p:cNvPr>
          <p:cNvSpPr/>
          <p:nvPr/>
        </p:nvSpPr>
        <p:spPr>
          <a:xfrm>
            <a:off x="21602128" y="11168684"/>
            <a:ext cx="10463530" cy="12873136"/>
          </a:xfrm>
          <a:prstGeom prst="round2SameRect">
            <a:avLst>
              <a:gd name="adj1" fmla="val 6949"/>
              <a:gd name="adj2" fmla="val 0"/>
            </a:avLst>
          </a:pr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同侧圆角矩形 8">
            <a:extLst>
              <a:ext uri="{FF2B5EF4-FFF2-40B4-BE49-F238E27FC236}">
                <a16:creationId xmlns:a16="http://schemas.microsoft.com/office/drawing/2014/main" id="{1E828846-58B4-D9DF-C56D-862C9CDAF333}"/>
              </a:ext>
            </a:extLst>
          </p:cNvPr>
          <p:cNvSpPr/>
          <p:nvPr/>
        </p:nvSpPr>
        <p:spPr>
          <a:xfrm>
            <a:off x="552769" y="23666402"/>
            <a:ext cx="20795913" cy="18815650"/>
          </a:xfrm>
          <a:prstGeom prst="round2SameRect">
            <a:avLst>
              <a:gd name="adj1" fmla="val 6949"/>
              <a:gd name="adj2" fmla="val 0"/>
            </a:avLst>
          </a:pr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同侧圆角矩形 8"/>
          <p:cNvSpPr/>
          <p:nvPr/>
        </p:nvSpPr>
        <p:spPr>
          <a:xfrm>
            <a:off x="440389" y="11115675"/>
            <a:ext cx="20795913" cy="11503179"/>
          </a:xfrm>
          <a:prstGeom prst="round2SameRect">
            <a:avLst>
              <a:gd name="adj1" fmla="val 6949"/>
              <a:gd name="adj2" fmla="val 0"/>
            </a:avLst>
          </a:pr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670" y="8459470"/>
            <a:ext cx="15412085" cy="935355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冯子晗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闫凯翔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黄维宸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李孙学晗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19727545" y="8459470"/>
            <a:ext cx="10463530" cy="853440"/>
          </a:xfrm>
        </p:spPr>
        <p:txBody>
          <a:bodyPr/>
          <a:lstStyle/>
          <a:p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指导教师：精仪系</a:t>
            </a:r>
            <a:r>
              <a:rPr kumimoji="1"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 尉昊赟 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898525" y="5400901"/>
            <a:ext cx="30481270" cy="1434795"/>
          </a:xfrm>
        </p:spPr>
        <p:txBody>
          <a:bodyPr/>
          <a:lstStyle/>
          <a:p>
            <a:pPr algn="dist"/>
            <a:r>
              <a:rPr lang="en-US" altLang="zh-CN" sz="7200" b="1" dirty="0"/>
              <a:t>Remote Acoustic Sensing via Laser Doppler </a:t>
            </a:r>
            <a:r>
              <a:rPr lang="en-US" altLang="zh-CN" sz="7200" b="1" dirty="0" err="1"/>
              <a:t>Vibrometry</a:t>
            </a:r>
            <a:endParaRPr lang="en-US" altLang="zh-CN" sz="7200" b="1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1"/>
          </p:nvPr>
        </p:nvSpPr>
        <p:spPr>
          <a:xfrm>
            <a:off x="915035" y="6536690"/>
            <a:ext cx="30836870" cy="1749425"/>
          </a:xfrm>
        </p:spPr>
        <p:txBody>
          <a:bodyPr/>
          <a:lstStyle/>
          <a:p>
            <a:r>
              <a:rPr lang="zh-CN" altLang="en-US" sz="11500" dirty="0"/>
              <a:t>基于正交鉴频架构的激光多普勒远程侦听实现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898525" y="11533849"/>
            <a:ext cx="19861770" cy="1399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008000" algn="just">
              <a:lnSpc>
                <a:spcPct val="110000"/>
              </a:lnSpc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振动是工程与自然界的常见物理量；精确测振对安防监听、结构监测等很重要。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接触式传感器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需贴附目标，且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易受电磁干扰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，不适用于远距离、非合作目标。</a:t>
            </a:r>
            <a:endParaRPr lang="zh-CN" altLang="en-US" sz="4000" b="1" kern="1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915035" y="21609644"/>
            <a:ext cx="7177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激光移频回馈干涉光路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5625727" y="21610775"/>
            <a:ext cx="6426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待测目标物体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圆角矩形 10"/>
          <p:cNvSpPr>
            <a:spLocks noGrp="1"/>
          </p:cNvSpPr>
          <p:nvPr/>
        </p:nvSpPr>
        <p:spPr>
          <a:xfrm>
            <a:off x="423545" y="9877425"/>
            <a:ext cx="20795914" cy="1238250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50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Introduction </a:t>
            </a: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实验背景及原理</a:t>
            </a:r>
            <a:endParaRPr lang="en-US" altLang="zh-CN" sz="5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CCE0535-A3C8-8CE3-F8CD-580EA3E9A9AD}"/>
              </a:ext>
            </a:extLst>
          </p:cNvPr>
          <p:cNvSpPr txBox="1"/>
          <p:nvPr/>
        </p:nvSpPr>
        <p:spPr>
          <a:xfrm>
            <a:off x="898525" y="13037580"/>
            <a:ext cx="13737289" cy="72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008000" algn="just">
              <a:lnSpc>
                <a:spcPct val="110000"/>
              </a:lnSpc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激光自混合（回馈）干涉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可对微小位移高度敏感：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E09CF13-1DE8-E171-A57F-7247CC0FE0AE}"/>
              </a:ext>
            </a:extLst>
          </p:cNvPr>
          <p:cNvSpPr txBox="1"/>
          <p:nvPr/>
        </p:nvSpPr>
        <p:spPr>
          <a:xfrm>
            <a:off x="1307126" y="13866957"/>
            <a:ext cx="5636449" cy="2753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目标散射光回馈激光腔，与腔内光场干涉，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光电探测器（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输出随位移变化。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FBB11D7-DF50-8769-FA35-4CFDD3661499}"/>
              </a:ext>
            </a:extLst>
          </p:cNvPr>
          <p:cNvSpPr txBox="1"/>
          <p:nvPr/>
        </p:nvSpPr>
        <p:spPr>
          <a:xfrm>
            <a:off x="13825618" y="13866957"/>
            <a:ext cx="6934677" cy="2753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锁相放大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器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对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  <a:t>PD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信号做正交解调，得到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同相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正交分量 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I(t)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Q(t)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，作为后续「声音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振动还原」的输入。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8340C2F-AA77-8202-D872-64BA5BCB7D2A}"/>
              </a:ext>
            </a:extLst>
          </p:cNvPr>
          <p:cNvGrpSpPr/>
          <p:nvPr/>
        </p:nvGrpSpPr>
        <p:grpSpPr>
          <a:xfrm>
            <a:off x="1307126" y="16911464"/>
            <a:ext cx="7040880" cy="4541883"/>
            <a:chOff x="6382311" y="14899672"/>
            <a:chExt cx="8253504" cy="6567027"/>
          </a:xfrm>
        </p:grpSpPr>
        <p:pic>
          <p:nvPicPr>
            <p:cNvPr id="45" name="officeArt object">
              <a:extLst>
                <a:ext uri="{FF2B5EF4-FFF2-40B4-BE49-F238E27FC236}">
                  <a16:creationId xmlns:a16="http://schemas.microsoft.com/office/drawing/2014/main" id="{35063D3E-D230-F167-57AA-24F4A281B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7008"/>
            <a:stretch/>
          </p:blipFill>
          <p:spPr>
            <a:xfrm>
              <a:off x="6382311" y="14899672"/>
              <a:ext cx="8253504" cy="520995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50" name="officeArt object">
              <a:extLst>
                <a:ext uri="{FF2B5EF4-FFF2-40B4-BE49-F238E27FC236}">
                  <a16:creationId xmlns:a16="http://schemas.microsoft.com/office/drawing/2014/main" id="{9E9FA61E-F227-2564-1F74-CEC0DA3DA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9741" b="-190"/>
            <a:stretch/>
          </p:blipFill>
          <p:spPr>
            <a:xfrm>
              <a:off x="6382311" y="20115036"/>
              <a:ext cx="8253504" cy="135166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52" name="圆角矩形 10">
            <a:extLst>
              <a:ext uri="{FF2B5EF4-FFF2-40B4-BE49-F238E27FC236}">
                <a16:creationId xmlns:a16="http://schemas.microsoft.com/office/drawing/2014/main" id="{4763902D-4179-9386-65C1-52328D03EB6A}"/>
              </a:ext>
            </a:extLst>
          </p:cNvPr>
          <p:cNvSpPr>
            <a:spLocks noGrp="1"/>
          </p:cNvSpPr>
          <p:nvPr/>
        </p:nvSpPr>
        <p:spPr>
          <a:xfrm>
            <a:off x="21511260" y="9877425"/>
            <a:ext cx="10463530" cy="1238250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50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Main Approach</a:t>
            </a:r>
            <a:r>
              <a:rPr lang="zh-CN" altLang="en-US" sz="5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核心方法</a:t>
            </a:r>
            <a:endParaRPr lang="en-US" altLang="zh-CN" sz="5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4" name="officeArt object">
            <a:extLst>
              <a:ext uri="{FF2B5EF4-FFF2-40B4-BE49-F238E27FC236}">
                <a16:creationId xmlns:a16="http://schemas.microsoft.com/office/drawing/2014/main" id="{407E2176-8D8F-0DFC-569E-531DA7F17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231" y="16911464"/>
            <a:ext cx="7141461" cy="4588332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65" name="图片 64" descr="380d9262c665b9397faa605c282223ec">
            <a:extLst>
              <a:ext uri="{FF2B5EF4-FFF2-40B4-BE49-F238E27FC236}">
                <a16:creationId xmlns:a16="http://schemas.microsoft.com/office/drawing/2014/main" id="{73D0081B-E5DB-24D9-7E1B-98D48D78D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2436" y="16911800"/>
            <a:ext cx="3438337" cy="4585145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89ABC55C-F566-EC57-742E-4FE066C57C0A}"/>
              </a:ext>
            </a:extLst>
          </p:cNvPr>
          <p:cNvSpPr txBox="1"/>
          <p:nvPr/>
        </p:nvSpPr>
        <p:spPr>
          <a:xfrm>
            <a:off x="7205697" y="13880274"/>
            <a:ext cx="6357798" cy="2753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光路中加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入声光移频器（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AOM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产生稳定载波，可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减轻低频漂移、方向模糊与灵敏度衰落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676B49E-64CA-AF25-6010-3B8999DB5E4D}"/>
              </a:ext>
            </a:extLst>
          </p:cNvPr>
          <p:cNvSpPr txBox="1"/>
          <p:nvPr/>
        </p:nvSpPr>
        <p:spPr>
          <a:xfrm>
            <a:off x="8566861" y="21609644"/>
            <a:ext cx="7177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实验光路搭建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4" name="圆角矩形 10">
            <a:extLst>
              <a:ext uri="{FF2B5EF4-FFF2-40B4-BE49-F238E27FC236}">
                <a16:creationId xmlns:a16="http://schemas.microsoft.com/office/drawing/2014/main" id="{63FAD09A-29ED-54A8-341B-4C129C976103}"/>
              </a:ext>
            </a:extLst>
          </p:cNvPr>
          <p:cNvSpPr>
            <a:spLocks noGrp="1"/>
          </p:cNvSpPr>
          <p:nvPr/>
        </p:nvSpPr>
        <p:spPr>
          <a:xfrm>
            <a:off x="440389" y="22803569"/>
            <a:ext cx="20795914" cy="1238250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50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Processing  </a:t>
            </a: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数据处理</a:t>
            </a:r>
            <a:endParaRPr lang="en-US" altLang="zh-CN" sz="5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6B999114-2ED5-9258-B426-14DB676DC35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34"/>
          <a:stretch/>
        </p:blipFill>
        <p:spPr>
          <a:xfrm>
            <a:off x="8878930" y="24470346"/>
            <a:ext cx="11855844" cy="91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FA525316-CD58-9CCB-9784-0552D0B0AB4D}"/>
              </a:ext>
            </a:extLst>
          </p:cNvPr>
          <p:cNvSpPr txBox="1"/>
          <p:nvPr/>
        </p:nvSpPr>
        <p:spPr>
          <a:xfrm>
            <a:off x="21907254" y="11470646"/>
            <a:ext cx="9771937" cy="1399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008000" algn="just">
              <a:lnSpc>
                <a:spcPct val="110000"/>
              </a:lnSpc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本工作（正交鉴频）正交鉴频公式：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v(t) ∝ ( </a:t>
            </a:r>
            <a:r>
              <a:rPr lang="en-US" altLang="zh-CN" sz="4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I·dQ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en-US" altLang="zh-CN" sz="4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Q·dI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) / ( I² + Q² + </a:t>
            </a:r>
            <a:r>
              <a:rPr lang="el-GR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 )</a:t>
            </a:r>
            <a:endParaRPr lang="zh-CN" altLang="en-US" sz="4000" b="1" kern="1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A930EFE-6BF0-03EE-3E98-75225751A050}"/>
              </a:ext>
            </a:extLst>
          </p:cNvPr>
          <p:cNvSpPr txBox="1"/>
          <p:nvPr/>
        </p:nvSpPr>
        <p:spPr>
          <a:xfrm>
            <a:off x="21907254" y="20248245"/>
            <a:ext cx="9771937" cy="343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：无需相位解包裹，适合散斑环境。</a:t>
            </a:r>
          </a:p>
          <a:p>
            <a:pPr algn="just">
              <a:lnSpc>
                <a:spcPct val="110000"/>
              </a:lnSpc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②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可验证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：音阶标定与连续人声并列检验同一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  <a:t>DSP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链路。</a:t>
            </a:r>
          </a:p>
          <a:p>
            <a:pPr algn="just">
              <a:lnSpc>
                <a:spcPct val="110000"/>
              </a:lnSpc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③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</a:rPr>
              <a:t>可扩展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：拼接淡化、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  <a:t>Fs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标定、分级降噪可模块化替换。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4AE59C8-69FC-12BC-C02D-FB1FF2B3D7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7083" t="14477" b="-8296"/>
          <a:stretch/>
        </p:blipFill>
        <p:spPr>
          <a:xfrm>
            <a:off x="2529839" y="37820917"/>
            <a:ext cx="5562376" cy="383349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圆角矩形 10">
            <a:extLst>
              <a:ext uri="{FF2B5EF4-FFF2-40B4-BE49-F238E27FC236}">
                <a16:creationId xmlns:a16="http://schemas.microsoft.com/office/drawing/2014/main" id="{7EEEB907-3E62-69DC-63FE-D39C8DC21932}"/>
              </a:ext>
            </a:extLst>
          </p:cNvPr>
          <p:cNvSpPr>
            <a:spLocks noGrp="1"/>
          </p:cNvSpPr>
          <p:nvPr/>
        </p:nvSpPr>
        <p:spPr>
          <a:xfrm>
            <a:off x="21511260" y="24047670"/>
            <a:ext cx="10463530" cy="1238250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75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Results and Discussion</a:t>
            </a: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　结果与讨论</a:t>
            </a:r>
            <a:endParaRPr lang="en-US" altLang="zh-CN" sz="5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4" name="图片 133" descr="ff1c70b168a4977eb2001e2868830516">
            <a:extLst>
              <a:ext uri="{FF2B5EF4-FFF2-40B4-BE49-F238E27FC236}">
                <a16:creationId xmlns:a16="http://schemas.microsoft.com/office/drawing/2014/main" id="{F7CA59F3-9BE9-06D5-72CA-7C6C0646E6B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669"/>
          <a:stretch/>
        </p:blipFill>
        <p:spPr>
          <a:xfrm>
            <a:off x="8878930" y="34683896"/>
            <a:ext cx="11824129" cy="6633872"/>
          </a:xfrm>
          <a:prstGeom prst="rect">
            <a:avLst/>
          </a:prstGeom>
        </p:spPr>
      </p:pic>
      <p:sp>
        <p:nvSpPr>
          <p:cNvPr id="136" name="文本框 135">
            <a:extLst>
              <a:ext uri="{FF2B5EF4-FFF2-40B4-BE49-F238E27FC236}">
                <a16:creationId xmlns:a16="http://schemas.microsoft.com/office/drawing/2014/main" id="{1A7071B8-1009-79C7-370A-9C816485CE74}"/>
              </a:ext>
            </a:extLst>
          </p:cNvPr>
          <p:cNvSpPr txBox="1"/>
          <p:nvPr/>
        </p:nvSpPr>
        <p:spPr>
          <a:xfrm>
            <a:off x="8936165" y="33776671"/>
            <a:ext cx="11824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LDV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音阶处理对比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语谱图（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Fs=13394Hz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2B76E6F7-48BA-84EC-134C-527E2A6E6EAF}"/>
              </a:ext>
            </a:extLst>
          </p:cNvPr>
          <p:cNvSpPr txBox="1"/>
          <p:nvPr/>
        </p:nvSpPr>
        <p:spPr>
          <a:xfrm>
            <a:off x="9097529" y="41636304"/>
            <a:ext cx="11824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LDV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人声语谱图（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Fs=13385Hz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0-2000Hz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CA8A9A05-87FB-64CC-5A1C-4D8AE641B55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692" t="7492" r="63895" b="-949"/>
          <a:stretch/>
        </p:blipFill>
        <p:spPr>
          <a:xfrm>
            <a:off x="1536175" y="24378466"/>
            <a:ext cx="2602620" cy="7026930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36E3DE97-F389-4101-9CBA-03EA4261F4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89" t="14610" r="65086" b="6863"/>
          <a:stretch/>
        </p:blipFill>
        <p:spPr>
          <a:xfrm>
            <a:off x="2529839" y="31665466"/>
            <a:ext cx="5562375" cy="304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文本框 142">
            <a:extLst>
              <a:ext uri="{FF2B5EF4-FFF2-40B4-BE49-F238E27FC236}">
                <a16:creationId xmlns:a16="http://schemas.microsoft.com/office/drawing/2014/main" id="{4E0634A1-7824-AD0D-FDC1-D238E9DA3A30}"/>
              </a:ext>
            </a:extLst>
          </p:cNvPr>
          <p:cNvSpPr txBox="1"/>
          <p:nvPr/>
        </p:nvSpPr>
        <p:spPr>
          <a:xfrm>
            <a:off x="-985785" y="41654415"/>
            <a:ext cx="11824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LDV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音阶</a:t>
            </a:r>
            <a:r>
              <a:rPr lang="en-US" altLang="zh-CN" sz="4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wetch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功率谱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593C29D6-D779-4630-EA7B-89DF37AD69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4" t="14610" r="97172" b="6863"/>
          <a:stretch/>
        </p:blipFill>
        <p:spPr>
          <a:xfrm>
            <a:off x="2110476" y="34671254"/>
            <a:ext cx="419363" cy="314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365DD348-322C-2E13-8A1E-755A1A43B5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4" t="14610" r="97172" b="6863"/>
          <a:stretch/>
        </p:blipFill>
        <p:spPr>
          <a:xfrm>
            <a:off x="2110476" y="37733875"/>
            <a:ext cx="478555" cy="358389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文本框 145">
            <a:extLst>
              <a:ext uri="{FF2B5EF4-FFF2-40B4-BE49-F238E27FC236}">
                <a16:creationId xmlns:a16="http://schemas.microsoft.com/office/drawing/2014/main" id="{398ED2C9-D2DA-C8A3-D06E-44BA87388C0E}"/>
              </a:ext>
            </a:extLst>
          </p:cNvPr>
          <p:cNvSpPr txBox="1"/>
          <p:nvPr/>
        </p:nvSpPr>
        <p:spPr>
          <a:xfrm rot="16200000">
            <a:off x="-210544" y="32881826"/>
            <a:ext cx="357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未降噪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51390229-FC4F-B2CE-097A-87667CE2B34D}"/>
              </a:ext>
            </a:extLst>
          </p:cNvPr>
          <p:cNvSpPr txBox="1"/>
          <p:nvPr/>
        </p:nvSpPr>
        <p:spPr>
          <a:xfrm rot="16200000">
            <a:off x="-210544" y="39083066"/>
            <a:ext cx="357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最终降噪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9914589C-F526-A720-3717-95D38EB3B998}"/>
              </a:ext>
            </a:extLst>
          </p:cNvPr>
          <p:cNvSpPr txBox="1"/>
          <p:nvPr/>
        </p:nvSpPr>
        <p:spPr>
          <a:xfrm>
            <a:off x="21907254" y="25618509"/>
            <a:ext cx="9771937" cy="10201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系统验证：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AOM–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自混合干涉光路搭建，由锁相放大器获取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信号，经正交鉴频与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后导出可听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，证明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非接触 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LDV 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拾音链路可行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音阶标定：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三段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拼接后经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标定，语谱与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Welch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主峰与标称音阶一致，说明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采样率标定策略有效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人声还原：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对鉴频波形做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50–2000 Hz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带通与全段噪声底谱减，降噪后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语谱结构更清晰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algn="just">
              <a:lnSpc>
                <a:spcPct val="110000"/>
              </a:lnSpc>
            </a:pP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分级处理结论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：简单降噪可快速抑制宽带噪声；分峰自适应窄带更适合分段音阶处理；同一正交鉴频框架对人声与音阶均具备良好适应性。</a:t>
            </a:r>
          </a:p>
        </p:txBody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BFBD43DA-851E-5A0D-6617-A554D09A5CB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3112" y="13171966"/>
            <a:ext cx="9115941" cy="6645973"/>
          </a:xfrm>
          <a:prstGeom prst="rect">
            <a:avLst/>
          </a:prstGeom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E1BBE3C9-544A-841D-F574-1675AE340B0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4" t="14610" r="97172" b="6863"/>
          <a:stretch/>
        </p:blipFill>
        <p:spPr>
          <a:xfrm>
            <a:off x="2110476" y="31665466"/>
            <a:ext cx="419363" cy="314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A7CC7ADF-A53C-3E51-735E-B29AD63FC8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853" t="13688" r="32722" b="7786"/>
          <a:stretch/>
        </p:blipFill>
        <p:spPr>
          <a:xfrm>
            <a:off x="2529840" y="34661516"/>
            <a:ext cx="5579814" cy="316555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文本框 154">
            <a:extLst>
              <a:ext uri="{FF2B5EF4-FFF2-40B4-BE49-F238E27FC236}">
                <a16:creationId xmlns:a16="http://schemas.microsoft.com/office/drawing/2014/main" id="{E0F7887F-57DC-C605-F2F6-D60FE6EAC02C}"/>
              </a:ext>
            </a:extLst>
          </p:cNvPr>
          <p:cNvSpPr txBox="1"/>
          <p:nvPr/>
        </p:nvSpPr>
        <p:spPr>
          <a:xfrm rot="16200000">
            <a:off x="-210544" y="35737295"/>
            <a:ext cx="357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简单降噪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6" name="图片 155">
            <a:extLst>
              <a:ext uri="{FF2B5EF4-FFF2-40B4-BE49-F238E27FC236}">
                <a16:creationId xmlns:a16="http://schemas.microsoft.com/office/drawing/2014/main" id="{0045E171-BBAE-45B7-5351-D1FC195FBB2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87" t="7492" r="8692" b="-949"/>
          <a:stretch/>
        </p:blipFill>
        <p:spPr>
          <a:xfrm>
            <a:off x="5514432" y="24378466"/>
            <a:ext cx="2833574" cy="7263762"/>
          </a:xfrm>
          <a:prstGeom prst="rect">
            <a:avLst/>
          </a:prstGeom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A3A6DC7F-3A69-F9C6-1979-F3FE418A1DE7}"/>
              </a:ext>
            </a:extLst>
          </p:cNvPr>
          <p:cNvSpPr txBox="1"/>
          <p:nvPr/>
        </p:nvSpPr>
        <p:spPr>
          <a:xfrm rot="16200000">
            <a:off x="-210544" y="27646345"/>
            <a:ext cx="357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音阶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8" name="图片 157">
            <a:extLst>
              <a:ext uri="{FF2B5EF4-FFF2-40B4-BE49-F238E27FC236}">
                <a16:creationId xmlns:a16="http://schemas.microsoft.com/office/drawing/2014/main" id="{99995E3D-B891-6076-F7B2-6BEF2DC17C0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0" t="88767" r="55490" b="1677"/>
          <a:stretch/>
        </p:blipFill>
        <p:spPr>
          <a:xfrm>
            <a:off x="4594859" y="30629510"/>
            <a:ext cx="527342" cy="742915"/>
          </a:xfrm>
          <a:prstGeom prst="rect">
            <a:avLst/>
          </a:prstGeom>
        </p:spPr>
      </p:pic>
      <p:sp>
        <p:nvSpPr>
          <p:cNvPr id="159" name="文本框 158">
            <a:extLst>
              <a:ext uri="{FF2B5EF4-FFF2-40B4-BE49-F238E27FC236}">
                <a16:creationId xmlns:a16="http://schemas.microsoft.com/office/drawing/2014/main" id="{029333A2-281A-39E1-274C-D6BF174FA21C}"/>
              </a:ext>
            </a:extLst>
          </p:cNvPr>
          <p:cNvSpPr txBox="1"/>
          <p:nvPr/>
        </p:nvSpPr>
        <p:spPr>
          <a:xfrm rot="16200000">
            <a:off x="3263518" y="27646345"/>
            <a:ext cx="357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人声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3215D2A9-7112-4F1D-9A0B-40E309A5EFD0}"/>
              </a:ext>
            </a:extLst>
          </p:cNvPr>
          <p:cNvSpPr/>
          <p:nvPr/>
        </p:nvSpPr>
        <p:spPr>
          <a:xfrm>
            <a:off x="1947898" y="24322538"/>
            <a:ext cx="2218161" cy="7125823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98475C86-FCA3-DF58-9072-6C8D5D2433D6}"/>
              </a:ext>
            </a:extLst>
          </p:cNvPr>
          <p:cNvSpPr/>
          <p:nvPr/>
        </p:nvSpPr>
        <p:spPr>
          <a:xfrm>
            <a:off x="5467997" y="24322538"/>
            <a:ext cx="2218161" cy="5919963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圆角矩形 10">
            <a:extLst>
              <a:ext uri="{FF2B5EF4-FFF2-40B4-BE49-F238E27FC236}">
                <a16:creationId xmlns:a16="http://schemas.microsoft.com/office/drawing/2014/main" id="{7BF86062-9523-7DF6-D38A-99284A6A828A}"/>
              </a:ext>
            </a:extLst>
          </p:cNvPr>
          <p:cNvSpPr>
            <a:spLocks noGrp="1"/>
          </p:cNvSpPr>
          <p:nvPr/>
        </p:nvSpPr>
        <p:spPr>
          <a:xfrm>
            <a:off x="21511260" y="36152865"/>
            <a:ext cx="10463530" cy="1238250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50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Outlook</a:t>
            </a: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　展望</a:t>
            </a:r>
            <a:endParaRPr lang="en-US" altLang="zh-CN" sz="5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9DA72DA5-B8AE-E5D7-4995-ACD1636A9BBD}"/>
              </a:ext>
            </a:extLst>
          </p:cNvPr>
          <p:cNvSpPr txBox="1"/>
          <p:nvPr/>
        </p:nvSpPr>
        <p:spPr>
          <a:xfrm>
            <a:off x="21857056" y="37708684"/>
            <a:ext cx="9771937" cy="478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算法：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在经典 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基础上引入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深度学习去噪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，提升极端信噪比下的可懂度。</a:t>
            </a:r>
          </a:p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应用：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拓展至结构无损检测、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MEMS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模态分析、复合材料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内部缺陷诊断及安防场景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系统：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采集带宽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实时处理能力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，优化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多段拼接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长期稳定测量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空白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基础科学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528</Words>
  <Application>Microsoft Office PowerPoint</Application>
  <PresentationFormat>自定义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微软雅黑</vt:lpstr>
      <vt:lpstr>微软雅黑 Light</vt:lpstr>
      <vt:lpstr>Arial</vt:lpstr>
      <vt:lpstr>Calibri</vt:lpstr>
      <vt:lpstr>Times New Roman</vt:lpstr>
      <vt:lpstr>空白母版</vt:lpstr>
      <vt:lpstr>基础科学</vt:lpstr>
      <vt:lpstr>小组成员：冯子晗  闫凯翔 黄维宸 李孙学晗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维宸 黄</cp:lastModifiedBy>
  <cp:revision>25</cp:revision>
  <dcterms:created xsi:type="dcterms:W3CDTF">2021-03-13T08:56:00Z</dcterms:created>
  <dcterms:modified xsi:type="dcterms:W3CDTF">2026-06-04T05:35:02Z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7FE3989A6D3C4AABAAF7F61E585428E3_13</vt:lpwstr>
  </property>
  <property fmtid="{D5CDD505-2E9C-101B-9397-08002B2CF9AE}" pid="3" name="KSOProductBuildVer">
    <vt:lpwstr>2052-12.1.0.26375</vt:lpwstr>
  </property>
</Properties>
</file>