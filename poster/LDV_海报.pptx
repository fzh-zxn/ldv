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</p:sldMasterIdLst>
  <p:notesMasterIdLst>
    <p:notesMasterId r:id="rId5"/>
  </p:notesMasterIdLst>
  <p:handoutMasterIdLst>
    <p:handoutMasterId r:id="rId6"/>
  </p:handoutMasterIdLst>
  <p:sldIdLst>
    <p:sldId id="272" r:id="rId4"/>
  </p:sldIdLst>
  <p:sldSz cx="32398970" cy="43200320"/>
  <p:notesSz cx="7103745" cy="102342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60" userDrawn="1">
          <p15:clr>
            <a:srgbClr val="A4A3A4"/>
          </p15:clr>
        </p15:guide>
        <p15:guide id="2" pos="19830" userDrawn="1">
          <p15:clr>
            <a:srgbClr val="A4A3A4"/>
          </p15:clr>
        </p15:guide>
        <p15:guide id="3" orient="horz" pos="566" userDrawn="1">
          <p15:clr>
            <a:srgbClr val="A4A3A4"/>
          </p15:clr>
        </p15:guide>
        <p15:guide id="4" orient="horz" pos="266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2C8A"/>
    <a:srgbClr val="670875"/>
    <a:srgbClr val="C8BBE0"/>
    <a:srgbClr val="8563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5" autoAdjust="0"/>
    <p:restoredTop sz="94660"/>
  </p:normalViewPr>
  <p:slideViewPr>
    <p:cSldViewPr snapToGrid="0" showGuides="1">
      <p:cViewPr>
        <p:scale>
          <a:sx n="40" d="100"/>
          <a:sy n="40" d="100"/>
        </p:scale>
        <p:origin x="-396" y="-2708"/>
      </p:cViewPr>
      <p:guideLst>
        <p:guide pos="660"/>
        <p:guide pos="19830"/>
        <p:guide orient="horz" pos="566"/>
        <p:guide orient="horz" pos="26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2076" y="60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08A408FD-505A-4AE3-B819-57B43CA231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377DC2D-4687-4523-ADB3-E913CC15D90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AE52C4A-761F-47E0-A562-4E954A4277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57425" y="1279525"/>
            <a:ext cx="25892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BBFBE751-7E00-45D9-A2AA-3AE6EDD6B8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多字少用这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4154" y="9557628"/>
            <a:ext cx="10974617" cy="9778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作者</a:t>
            </a:r>
            <a:r>
              <a:rPr lang="en-US" altLang="zh-CN" dirty="0"/>
              <a:t>1</a:t>
            </a:r>
            <a:r>
              <a:rPr lang="zh-CN" altLang="en-US" dirty="0"/>
              <a:t> 作者</a:t>
            </a:r>
            <a:r>
              <a:rPr lang="en-US" altLang="zh-CN" dirty="0"/>
              <a:t>2</a:t>
            </a:r>
            <a:r>
              <a:rPr lang="zh-CN" altLang="en-US" dirty="0"/>
              <a:t> 作者</a:t>
            </a:r>
            <a:r>
              <a:rPr lang="en-US" altLang="zh-CN" dirty="0"/>
              <a:t>3</a:t>
            </a:r>
            <a:r>
              <a:rPr lang="zh-CN" altLang="en-US" dirty="0"/>
              <a:t> 作者</a:t>
            </a:r>
            <a:r>
              <a:rPr lang="en-US" altLang="zh-CN" dirty="0"/>
              <a:t>4 </a:t>
            </a:r>
            <a:r>
              <a:rPr lang="zh-CN" altLang="en-US" dirty="0"/>
              <a:t>作者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785" y="11359619"/>
            <a:ext cx="30595977" cy="62297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259840">
              <a:lnSpc>
                <a:spcPct val="100000"/>
              </a:lnSpc>
              <a:spcBef>
                <a:spcPts val="1000"/>
              </a:spcBef>
              <a:buNone/>
              <a:defRPr sz="48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endParaRPr lang="zh-CN" altLang="en-US" dirty="0"/>
          </a:p>
          <a:p>
            <a:pPr lvl="1"/>
            <a:r>
              <a:rPr lang="zh-CN" altLang="en-US" dirty="0"/>
              <a:t>正文标题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17082748" y="9612344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指导教师</a:t>
            </a:r>
            <a:endParaRPr lang="zh-CN" altLang="en-US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898525" y="5952812"/>
            <a:ext cx="11333166" cy="1368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Title in English</a:t>
            </a:r>
            <a:endParaRPr lang="zh-CN" altLang="en-US" dirty="0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9" hasCustomPrompt="1"/>
          </p:nvPr>
        </p:nvSpPr>
        <p:spPr>
          <a:xfrm>
            <a:off x="898525" y="27730574"/>
            <a:ext cx="30602238" cy="62297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7200" b="1" kern="1200" dirty="0" smtClean="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619885" indent="0">
              <a:buNone/>
              <a:defRPr lang="zh-CN" altLang="en-US" sz="6000" b="1" kern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0">
              <a:buNone/>
              <a:defRPr lang="zh-CN" altLang="en-US" sz="4800" kern="12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marL="0" lv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</a:pPr>
            <a:r>
              <a:rPr lang="zh-CN" altLang="en-US" dirty="0"/>
              <a:t>节标题</a:t>
            </a:r>
            <a:r>
              <a:rPr lang="en-US" altLang="zh-CN" dirty="0"/>
              <a:t>2</a:t>
            </a:r>
            <a:endParaRPr lang="zh-CN" altLang="en-US" dirty="0"/>
          </a:p>
          <a:p>
            <a:pPr marL="1080135" lvl="1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zh-CN" altLang="en-US" dirty="0"/>
              <a:t>正文标题</a:t>
            </a:r>
            <a:endParaRPr lang="zh-CN" altLang="en-US" dirty="0"/>
          </a:p>
          <a:p>
            <a:pPr marL="1080135" lvl="2" indent="1259840" algn="l" defTabSz="323977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zh-CN" altLang="en-US" dirty="0"/>
          </a:p>
          <a:p>
            <a:pPr marL="1080135" lvl="2" indent="1259840" algn="l" defTabSz="323977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zh-CN" altLang="en-US" dirty="0"/>
              <a:t>这是正文。</a:t>
            </a:r>
            <a:endParaRPr lang="zh-CN" altLang="en-US" dirty="0"/>
          </a:p>
        </p:txBody>
      </p:sp>
      <p:sp>
        <p:nvSpPr>
          <p:cNvPr id="37" name="图片占位符 36"/>
          <p:cNvSpPr>
            <a:spLocks noGrp="1"/>
          </p:cNvSpPr>
          <p:nvPr>
            <p:ph type="pic" sz="quarter" idx="20" hasCustomPrompt="1"/>
          </p:nvPr>
        </p:nvSpPr>
        <p:spPr>
          <a:xfrm>
            <a:off x="11943114" y="18413489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21" hasCustomPrompt="1"/>
          </p:nvPr>
        </p:nvSpPr>
        <p:spPr>
          <a:xfrm>
            <a:off x="915216" y="7561908"/>
            <a:ext cx="7807325" cy="17491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中文标题</a:t>
            </a:r>
            <a:endParaRPr lang="zh-CN" altLang="en-US" dirty="0"/>
          </a:p>
        </p:txBody>
      </p:sp>
      <p:sp>
        <p:nvSpPr>
          <p:cNvPr id="41" name="文本占位符 40"/>
          <p:cNvSpPr>
            <a:spLocks noGrp="1"/>
          </p:cNvSpPr>
          <p:nvPr>
            <p:ph type="body" sz="quarter" idx="22" hasCustomPrompt="1"/>
          </p:nvPr>
        </p:nvSpPr>
        <p:spPr>
          <a:xfrm>
            <a:off x="14653997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45" name="文本占位符 44"/>
          <p:cNvSpPr>
            <a:spLocks noGrp="1"/>
          </p:cNvSpPr>
          <p:nvPr>
            <p:ph type="body" sz="quarter" idx="23" hasCustomPrompt="1"/>
          </p:nvPr>
        </p:nvSpPr>
        <p:spPr>
          <a:xfrm>
            <a:off x="13831489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47" name="文本占位符 40"/>
          <p:cNvSpPr>
            <a:spLocks noGrp="1"/>
          </p:cNvSpPr>
          <p:nvPr>
            <p:ph type="body" sz="quarter" idx="24" hasCustomPrompt="1"/>
          </p:nvPr>
        </p:nvSpPr>
        <p:spPr>
          <a:xfrm>
            <a:off x="3714048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48" name="文本占位符 44"/>
          <p:cNvSpPr>
            <a:spLocks noGrp="1"/>
          </p:cNvSpPr>
          <p:nvPr>
            <p:ph type="body" sz="quarter" idx="25" hasCustomPrompt="1"/>
          </p:nvPr>
        </p:nvSpPr>
        <p:spPr>
          <a:xfrm>
            <a:off x="2891540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49" name="文本占位符 40"/>
          <p:cNvSpPr>
            <a:spLocks noGrp="1"/>
          </p:cNvSpPr>
          <p:nvPr>
            <p:ph type="body" sz="quarter" idx="26" hasCustomPrompt="1"/>
          </p:nvPr>
        </p:nvSpPr>
        <p:spPr>
          <a:xfrm>
            <a:off x="25757348" y="2438703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50" name="文本占位符 44"/>
          <p:cNvSpPr>
            <a:spLocks noGrp="1"/>
          </p:cNvSpPr>
          <p:nvPr>
            <p:ph type="body" sz="quarter" idx="27" hasCustomPrompt="1"/>
          </p:nvPr>
        </p:nvSpPr>
        <p:spPr>
          <a:xfrm>
            <a:off x="24934840" y="25216584"/>
            <a:ext cx="5014912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51" name="图片占位符 36"/>
          <p:cNvSpPr>
            <a:spLocks noGrp="1"/>
          </p:cNvSpPr>
          <p:nvPr>
            <p:ph type="pic" sz="quarter" idx="28" hasCustomPrompt="1"/>
          </p:nvPr>
        </p:nvSpPr>
        <p:spPr>
          <a:xfrm>
            <a:off x="898525" y="18429195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52" name="图片占位符 36"/>
          <p:cNvSpPr>
            <a:spLocks noGrp="1"/>
          </p:cNvSpPr>
          <p:nvPr>
            <p:ph type="pic" sz="quarter" idx="29" hasCustomPrompt="1"/>
          </p:nvPr>
        </p:nvSpPr>
        <p:spPr>
          <a:xfrm>
            <a:off x="22860763" y="18388252"/>
            <a:ext cx="8640000" cy="54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53" name="图片占位符 36"/>
          <p:cNvSpPr>
            <a:spLocks noGrp="1"/>
          </p:cNvSpPr>
          <p:nvPr>
            <p:ph type="pic" sz="quarter" idx="30" hasCustomPrompt="1"/>
          </p:nvPr>
        </p:nvSpPr>
        <p:spPr>
          <a:xfrm>
            <a:off x="898525" y="34690873"/>
            <a:ext cx="30602237" cy="41464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此处可放图片，注意图片边界不宜超过参考线</a:t>
            </a:r>
            <a:endParaRPr lang="zh-CN" altLang="en-US" dirty="0"/>
          </a:p>
        </p:txBody>
      </p:sp>
      <p:sp>
        <p:nvSpPr>
          <p:cNvPr id="54" name="文本占位符 40"/>
          <p:cNvSpPr>
            <a:spLocks noGrp="1"/>
          </p:cNvSpPr>
          <p:nvPr>
            <p:ph type="body" sz="quarter" idx="31" hasCustomPrompt="1"/>
          </p:nvPr>
        </p:nvSpPr>
        <p:spPr>
          <a:xfrm>
            <a:off x="14578166" y="39205352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55" name="文本占位符 44"/>
          <p:cNvSpPr>
            <a:spLocks noGrp="1"/>
          </p:cNvSpPr>
          <p:nvPr>
            <p:ph type="body" sz="quarter" idx="32" hasCustomPrompt="1"/>
          </p:nvPr>
        </p:nvSpPr>
        <p:spPr>
          <a:xfrm>
            <a:off x="5083932" y="40034898"/>
            <a:ext cx="22358364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ctr" defTabSz="3239770" rtl="0" eaLnBrk="1" fontAlgn="auto" latinLnBrk="0" hangingPunct="1">
              <a:lnSpc>
                <a:spcPct val="100000"/>
              </a:lnSpc>
              <a:spcBef>
                <a:spcPts val="35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图注，这是图注图注，这是图图注，这是图图注，这是图图注，这是图图注，这是图注图注，这是图图注，这是图图注，这是图图注，这是图注，这是图注图注，这是图图注，这是图图注，这是图图注，这是图图注，这是图注图注，这是图图注，这是图图注，这是图图注，这是图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4" name="文本占位符 22"/>
          <p:cNvSpPr>
            <a:spLocks noGrp="1"/>
          </p:cNvSpPr>
          <p:nvPr>
            <p:ph type="body" sz="quarter" idx="33" hasCustomPrompt="1"/>
          </p:nvPr>
        </p:nvSpPr>
        <p:spPr>
          <a:xfrm>
            <a:off x="23977826" y="9639451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所属课组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少字多用这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98525" y="11352985"/>
            <a:ext cx="14894535" cy="219911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043940">
              <a:lnSpc>
                <a:spcPct val="105000"/>
              </a:lnSpc>
              <a:spcBef>
                <a:spcPts val="900"/>
              </a:spcBef>
              <a:buNone/>
              <a:defRPr sz="40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endParaRPr lang="zh-CN" altLang="en-US" dirty="0"/>
          </a:p>
          <a:p>
            <a:pPr lvl="1"/>
            <a:r>
              <a:rPr lang="zh-CN" altLang="en-US" dirty="0"/>
              <a:t>正文标题</a:t>
            </a:r>
            <a:r>
              <a:rPr lang="en-US" altLang="zh-CN" dirty="0"/>
              <a:t>1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这是正文。这是正文。</a:t>
            </a:r>
            <a:endParaRPr lang="zh-CN" altLang="en-US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</p:txBody>
      </p:sp>
      <p:sp>
        <p:nvSpPr>
          <p:cNvPr id="53" name="图片占位符 36"/>
          <p:cNvSpPr>
            <a:spLocks noGrp="1"/>
          </p:cNvSpPr>
          <p:nvPr>
            <p:ph type="pic" sz="quarter" idx="30" hasCustomPrompt="1"/>
          </p:nvPr>
        </p:nvSpPr>
        <p:spPr>
          <a:xfrm>
            <a:off x="898525" y="34211235"/>
            <a:ext cx="30602238" cy="414645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此处可放跨栏图片，注意图片边界不宜超过参考线</a:t>
            </a:r>
            <a:endParaRPr lang="zh-CN" altLang="en-US" dirty="0"/>
          </a:p>
        </p:txBody>
      </p:sp>
      <p:sp>
        <p:nvSpPr>
          <p:cNvPr id="54" name="文本占位符 40"/>
          <p:cNvSpPr>
            <a:spLocks noGrp="1"/>
          </p:cNvSpPr>
          <p:nvPr>
            <p:ph type="body" sz="quarter" idx="31" hasCustomPrompt="1"/>
          </p:nvPr>
        </p:nvSpPr>
        <p:spPr>
          <a:xfrm>
            <a:off x="14273802" y="38702318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55" name="文本占位符 44"/>
          <p:cNvSpPr>
            <a:spLocks noGrp="1"/>
          </p:cNvSpPr>
          <p:nvPr>
            <p:ph type="body" sz="quarter" idx="32" hasCustomPrompt="1"/>
          </p:nvPr>
        </p:nvSpPr>
        <p:spPr>
          <a:xfrm>
            <a:off x="4781156" y="39586015"/>
            <a:ext cx="22358364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marL="0" marR="0" lvl="0" indent="0" algn="ctr" defTabSz="3239770" rtl="0" eaLnBrk="1" fontAlgn="auto" latinLnBrk="0" hangingPunct="1">
              <a:lnSpc>
                <a:spcPct val="100000"/>
              </a:lnSpc>
              <a:spcBef>
                <a:spcPts val="354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图注，这是图注图注，这是图图注，这是图图注，这是图图注，这是图图注，这是图注图注，这是图图注，这是图图注，这是图图注，这是图注，这是图注图注，这是图图注，这是图图注，这是图图注，这是图图注，这是图注图注，这是图图注，这是图图注，这是图图注，这是图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33" hasCustomPrompt="1"/>
          </p:nvPr>
        </p:nvSpPr>
        <p:spPr>
          <a:xfrm>
            <a:off x="16682811" y="11352985"/>
            <a:ext cx="14817952" cy="926149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Aft>
                <a:spcPts val="6000"/>
              </a:spcAft>
              <a:buNone/>
              <a:defRPr sz="72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1080135" indent="0">
              <a:spcAft>
                <a:spcPts val="1000"/>
              </a:spcAft>
              <a:buNone/>
              <a:defRPr sz="6000" b="1">
                <a:latin typeface="微软雅黑" panose="020B0503020204020204" charset="-122"/>
                <a:ea typeface="微软雅黑" panose="020B0503020204020204" charset="-122"/>
              </a:defRPr>
            </a:lvl2pPr>
            <a:lvl3pPr marL="1080135" indent="1043940">
              <a:lnSpc>
                <a:spcPct val="105000"/>
              </a:lnSpc>
              <a:spcBef>
                <a:spcPts val="900"/>
              </a:spcBef>
              <a:buNone/>
              <a:defRPr sz="4000">
                <a:latin typeface="微软雅黑" panose="020B0503020204020204" charset="-122"/>
                <a:ea typeface="微软雅黑" panose="020B0503020204020204" charset="-122"/>
              </a:defRPr>
            </a:lvl3pPr>
            <a:lvl4pPr marL="4859655" indent="0">
              <a:buNone/>
              <a:defRPr sz="3600">
                <a:latin typeface="微软雅黑" panose="020B0503020204020204" charset="-122"/>
                <a:ea typeface="微软雅黑" panose="020B0503020204020204" charset="-122"/>
              </a:defRPr>
            </a:lvl4pPr>
            <a:lvl5pPr marL="6479540" indent="0">
              <a:buNone/>
              <a:defRPr sz="44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节标题</a:t>
            </a:r>
            <a:r>
              <a:rPr lang="en-US" altLang="zh-CN" dirty="0"/>
              <a:t>2</a:t>
            </a:r>
            <a:r>
              <a:rPr lang="zh-CN" altLang="en-US" dirty="0"/>
              <a:t> </a:t>
            </a:r>
            <a:endParaRPr lang="zh-CN" altLang="en-US" dirty="0"/>
          </a:p>
          <a:p>
            <a:pPr lvl="1"/>
            <a:r>
              <a:rPr lang="zh-CN" altLang="en-US" dirty="0"/>
              <a:t>正文标题</a:t>
            </a:r>
            <a:r>
              <a:rPr lang="en-US" altLang="zh-CN" dirty="0"/>
              <a:t>2</a:t>
            </a:r>
            <a:endParaRPr lang="zh-CN" altLang="en-US" dirty="0"/>
          </a:p>
          <a:p>
            <a:pPr lvl="2"/>
            <a:r>
              <a:rPr lang="zh-CN" altLang="en-US" dirty="0"/>
              <a:t>这是正文，这是正文这是正文，这是正文这是正文，这是正文这是正文，这是正文这是正文，这是正文这是正文，这是正文这是正文，这是正文这是正文。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这是正文这是正文，这是正文这是正文，这是正文这是正文，这是正文这是正文，这是正文这是正文。</a:t>
            </a:r>
            <a:endParaRPr lang="en-US" altLang="zh-CN" dirty="0"/>
          </a:p>
          <a:p>
            <a:pPr lvl="2"/>
            <a:r>
              <a:rPr lang="zh-CN" altLang="en-US" dirty="0"/>
              <a:t>这是正文。</a:t>
            </a:r>
            <a:endParaRPr lang="zh-CN" altLang="en-US" dirty="0"/>
          </a:p>
        </p:txBody>
      </p:sp>
      <p:sp>
        <p:nvSpPr>
          <p:cNvPr id="26" name="图片占位符 36"/>
          <p:cNvSpPr>
            <a:spLocks noGrp="1"/>
          </p:cNvSpPr>
          <p:nvPr>
            <p:ph type="pic" sz="quarter" idx="34" hasCustomPrompt="1"/>
          </p:nvPr>
        </p:nvSpPr>
        <p:spPr>
          <a:xfrm>
            <a:off x="16675640" y="21484428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27" name="图片占位符 36"/>
          <p:cNvSpPr>
            <a:spLocks noGrp="1"/>
          </p:cNvSpPr>
          <p:nvPr>
            <p:ph type="pic" sz="quarter" idx="35" hasCustomPrompt="1"/>
          </p:nvPr>
        </p:nvSpPr>
        <p:spPr>
          <a:xfrm>
            <a:off x="25200763" y="21484428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32" name="文本占位符 40"/>
          <p:cNvSpPr>
            <a:spLocks noGrp="1"/>
          </p:cNvSpPr>
          <p:nvPr>
            <p:ph type="body" sz="quarter" idx="38" hasCustomPrompt="1"/>
          </p:nvPr>
        </p:nvSpPr>
        <p:spPr>
          <a:xfrm>
            <a:off x="22406839" y="30701123"/>
            <a:ext cx="3369896" cy="725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 b="1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 algn="ctr">
              <a:lnSpc>
                <a:spcPct val="100000"/>
              </a:lnSpc>
              <a:buNone/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3239770" indent="0" algn="ctr">
              <a:buNone/>
              <a:defRPr/>
            </a:lvl3pPr>
            <a:lvl4pPr marL="4859655" indent="0" algn="ctr">
              <a:buNone/>
              <a:defRPr/>
            </a:lvl4pPr>
            <a:lvl5pPr marL="6479540" indent="0" algn="ctr">
              <a:buNone/>
              <a:defRPr/>
            </a:lvl5pPr>
          </a:lstStyle>
          <a:p>
            <a:pPr lvl="0"/>
            <a:r>
              <a:rPr lang="zh-CN" altLang="en-US" dirty="0"/>
              <a:t>图名</a:t>
            </a:r>
            <a:endParaRPr lang="zh-CN" altLang="en-US" dirty="0"/>
          </a:p>
        </p:txBody>
      </p:sp>
      <p:sp>
        <p:nvSpPr>
          <p:cNvPr id="34" name="文本占位符 44"/>
          <p:cNvSpPr>
            <a:spLocks noGrp="1"/>
          </p:cNvSpPr>
          <p:nvPr>
            <p:ph type="body" sz="quarter" idx="39" hasCustomPrompt="1"/>
          </p:nvPr>
        </p:nvSpPr>
        <p:spPr>
          <a:xfrm>
            <a:off x="20941787" y="31716901"/>
            <a:ext cx="6300000" cy="162718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30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图注，这是图注图注，这是图图注，这是图图注，这是图图注，这是图</a:t>
            </a:r>
            <a:endParaRPr lang="zh-CN" altLang="en-US" dirty="0"/>
          </a:p>
        </p:txBody>
      </p:sp>
      <p:sp>
        <p:nvSpPr>
          <p:cNvPr id="4" name="图片占位符 36"/>
          <p:cNvSpPr>
            <a:spLocks noGrp="1"/>
          </p:cNvSpPr>
          <p:nvPr>
            <p:ph type="pic" sz="quarter" idx="40" hasCustomPrompt="1"/>
          </p:nvPr>
        </p:nvSpPr>
        <p:spPr>
          <a:xfrm>
            <a:off x="16675640" y="26209564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5" name="图片占位符 36"/>
          <p:cNvSpPr>
            <a:spLocks noGrp="1"/>
          </p:cNvSpPr>
          <p:nvPr>
            <p:ph type="pic" sz="quarter" idx="41" hasCustomPrompt="1"/>
          </p:nvPr>
        </p:nvSpPr>
        <p:spPr>
          <a:xfrm>
            <a:off x="25200763" y="26209564"/>
            <a:ext cx="6300000" cy="41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zh-CN" altLang="en-US" dirty="0"/>
              <a:t>此处可放图片</a:t>
            </a:r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34154" y="9557628"/>
            <a:ext cx="10974617" cy="9778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作者</a:t>
            </a:r>
            <a:r>
              <a:rPr lang="en-US" altLang="zh-CN" dirty="0"/>
              <a:t>1</a:t>
            </a:r>
            <a:r>
              <a:rPr lang="zh-CN" altLang="en-US" dirty="0"/>
              <a:t> 作者</a:t>
            </a:r>
            <a:r>
              <a:rPr lang="en-US" altLang="zh-CN" dirty="0"/>
              <a:t>2</a:t>
            </a:r>
            <a:r>
              <a:rPr lang="zh-CN" altLang="en-US" dirty="0"/>
              <a:t> 作者</a:t>
            </a:r>
            <a:r>
              <a:rPr lang="en-US" altLang="zh-CN" dirty="0"/>
              <a:t>3</a:t>
            </a:r>
            <a:r>
              <a:rPr lang="zh-CN" altLang="en-US" dirty="0"/>
              <a:t> 作者</a:t>
            </a:r>
            <a:r>
              <a:rPr lang="en-US" altLang="zh-CN" dirty="0"/>
              <a:t>4 </a:t>
            </a:r>
            <a:r>
              <a:rPr lang="zh-CN" altLang="en-US" dirty="0"/>
              <a:t>作者</a:t>
            </a:r>
            <a:r>
              <a:rPr lang="en-US" altLang="zh-CN" dirty="0"/>
              <a:t>5</a:t>
            </a:r>
            <a:endParaRPr lang="en-US" dirty="0"/>
          </a:p>
        </p:txBody>
      </p:sp>
      <p:sp>
        <p:nvSpPr>
          <p:cNvPr id="9" name="文本占位符 22"/>
          <p:cNvSpPr>
            <a:spLocks noGrp="1"/>
          </p:cNvSpPr>
          <p:nvPr>
            <p:ph type="body" sz="quarter" idx="15" hasCustomPrompt="1"/>
          </p:nvPr>
        </p:nvSpPr>
        <p:spPr>
          <a:xfrm>
            <a:off x="17082748" y="9612344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指导教师</a:t>
            </a:r>
            <a:endParaRPr lang="zh-CN" altLang="en-US" dirty="0"/>
          </a:p>
        </p:txBody>
      </p:sp>
      <p:sp>
        <p:nvSpPr>
          <p:cNvPr id="1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898525" y="5952812"/>
            <a:ext cx="11333166" cy="1368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Title in English</a:t>
            </a:r>
            <a:endParaRPr lang="zh-CN" altLang="en-US" dirty="0"/>
          </a:p>
        </p:txBody>
      </p:sp>
      <p:sp>
        <p:nvSpPr>
          <p:cNvPr id="11" name="文本占位符 38"/>
          <p:cNvSpPr>
            <a:spLocks noGrp="1"/>
          </p:cNvSpPr>
          <p:nvPr>
            <p:ph type="body" sz="quarter" idx="21" hasCustomPrompt="1"/>
          </p:nvPr>
        </p:nvSpPr>
        <p:spPr>
          <a:xfrm>
            <a:off x="915216" y="7561908"/>
            <a:ext cx="7807325" cy="17491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0" b="1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中文标题</a:t>
            </a:r>
            <a:endParaRPr lang="zh-CN" altLang="en-US" dirty="0"/>
          </a:p>
        </p:txBody>
      </p:sp>
      <p:sp>
        <p:nvSpPr>
          <p:cNvPr id="12" name="文本占位符 22"/>
          <p:cNvSpPr>
            <a:spLocks noGrp="1"/>
          </p:cNvSpPr>
          <p:nvPr>
            <p:ph type="body" sz="quarter" idx="42" hasCustomPrompt="1"/>
          </p:nvPr>
        </p:nvSpPr>
        <p:spPr>
          <a:xfrm>
            <a:off x="23977826" y="9639451"/>
            <a:ext cx="3721100" cy="8471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6000" b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1619885" indent="0">
              <a:buNone/>
              <a:defRPr/>
            </a:lvl2pPr>
            <a:lvl3pPr marL="3239770" indent="0">
              <a:buNone/>
              <a:defRPr/>
            </a:lvl3pPr>
            <a:lvl4pPr marL="4859655" indent="0">
              <a:buNone/>
              <a:defRPr/>
            </a:lvl4pPr>
            <a:lvl5pPr marL="6479540" indent="0">
              <a:buNone/>
              <a:defRPr/>
            </a:lvl5pPr>
          </a:lstStyle>
          <a:p>
            <a:pPr lvl="0"/>
            <a:r>
              <a:rPr lang="zh-CN" altLang="en-US" dirty="0"/>
              <a:t>所属课组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microsoft.com/office/2007/relationships/hdphoto" Target="../media/image4.wdp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rgbClr val="EAE7F4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EAE7F4"/>
            </a:gs>
            <a:gs pos="0">
              <a:schemeClr val="accent1">
                <a:lumMod val="5000"/>
                <a:lumOff val="9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43710"/>
            <a:ext cx="32399288" cy="4039105"/>
          </a:xfrm>
          <a:prstGeom prst="rect">
            <a:avLst/>
          </a:prstGeom>
          <a:solidFill>
            <a:srgbClr val="670875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" name="矩形 3"/>
          <p:cNvSpPr/>
          <p:nvPr userDrawn="1"/>
        </p:nvSpPr>
        <p:spPr>
          <a:xfrm>
            <a:off x="1474094" y="1487505"/>
            <a:ext cx="19587585" cy="295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1500"/>
              </a:lnSpc>
            </a:pP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为先书院“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X-4-X”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科创大赛</a:t>
            </a:r>
            <a:endParaRPr lang="zh-CN" altLang="en-US" sz="8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ts val="11500"/>
              </a:lnSpc>
            </a:pP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暨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科技创新与挑战</a:t>
            </a:r>
            <a:r>
              <a:rPr lang="en-US" altLang="zh-CN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2》</a:t>
            </a:r>
            <a:r>
              <a:rPr lang="zh-CN" altLang="en-US" sz="8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课程分享交流会</a:t>
            </a:r>
            <a:endParaRPr lang="zh-CN" altLang="en-US" sz="8400" b="1" dirty="0">
              <a:solidFill>
                <a:schemeClr val="bg1"/>
              </a:solidFill>
            </a:endParaRPr>
          </a:p>
        </p:txBody>
      </p:sp>
      <p:pic>
        <p:nvPicPr>
          <p:cNvPr id="65" name="图形 6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" r="62394"/>
          <a:stretch>
            <a:fillRect/>
          </a:stretch>
        </p:blipFill>
        <p:spPr>
          <a:xfrm>
            <a:off x="23294780" y="1949262"/>
            <a:ext cx="5087730" cy="2160516"/>
          </a:xfrm>
          <a:prstGeom prst="rect">
            <a:avLst/>
          </a:prstGeom>
          <a:effectLst/>
        </p:spPr>
      </p:pic>
      <p:pic>
        <p:nvPicPr>
          <p:cNvPr id="66" name="图片 65" descr="徽标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8291" y="1207521"/>
            <a:ext cx="6476599" cy="3643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3239770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260" indent="-810260" algn="l" defTabSz="3239770" rtl="0" eaLnBrk="1" latinLnBrk="0" hangingPunct="1">
        <a:lnSpc>
          <a:spcPct val="90000"/>
        </a:lnSpc>
        <a:spcBef>
          <a:spcPts val="3545"/>
        </a:spcBef>
        <a:buFont typeface="Arial" panose="020B0604020202020204" pitchFamily="34" charset="0"/>
        <a:buChar char="•"/>
        <a:defRPr sz="9920" kern="1200">
          <a:solidFill>
            <a:schemeClr val="tx1"/>
          </a:solidFill>
          <a:latin typeface="+mn-lt"/>
          <a:ea typeface="+mn-ea"/>
          <a:cs typeface="+mn-cs"/>
        </a:defRPr>
      </a:lvl1pPr>
      <a:lvl2pPr marL="243014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8505" kern="1200">
          <a:solidFill>
            <a:schemeClr val="tx1"/>
          </a:solidFill>
          <a:latin typeface="+mn-lt"/>
          <a:ea typeface="+mn-ea"/>
          <a:cs typeface="+mn-cs"/>
        </a:defRPr>
      </a:lvl2pPr>
      <a:lvl3pPr marL="405003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7085" kern="1200">
          <a:solidFill>
            <a:schemeClr val="tx1"/>
          </a:solidFill>
          <a:latin typeface="+mn-lt"/>
          <a:ea typeface="+mn-ea"/>
          <a:cs typeface="+mn-cs"/>
        </a:defRPr>
      </a:lvl3pPr>
      <a:lvl4pPr marL="566991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728980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90968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1052957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2149455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3769340" indent="-810260" algn="l" defTabSz="3239770" rtl="0" eaLnBrk="1" latinLnBrk="0" hangingPunct="1">
        <a:lnSpc>
          <a:spcPct val="90000"/>
        </a:lnSpc>
        <a:spcBef>
          <a:spcPts val="1770"/>
        </a:spcBef>
        <a:buFont typeface="Arial" panose="020B0604020202020204" pitchFamily="34" charset="0"/>
        <a:buChar char="•"/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1pPr>
      <a:lvl2pPr marL="161988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2pPr>
      <a:lvl3pPr marL="323977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3pPr>
      <a:lvl4pPr marL="485965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4pPr>
      <a:lvl5pPr marL="647954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5pPr>
      <a:lvl6pPr marL="810006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6pPr>
      <a:lvl7pPr marL="971994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7pPr>
      <a:lvl8pPr marL="11339830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8pPr>
      <a:lvl9pPr marL="12959715" algn="l" defTabSz="3239770" rtl="0" eaLnBrk="1" latinLnBrk="0" hangingPunct="1">
        <a:defRPr sz="6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同侧圆角矩形 8"/>
          <p:cNvSpPr/>
          <p:nvPr/>
        </p:nvSpPr>
        <p:spPr>
          <a:xfrm>
            <a:off x="423545" y="11304270"/>
            <a:ext cx="31551880" cy="9530080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5035" y="8542020"/>
            <a:ext cx="12410440" cy="935355"/>
          </a:xfrm>
        </p:spPr>
        <p:txBody>
          <a:bodyPr/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小组成员：王榕  陈卓妍  闫凯翔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19727545" y="8541385"/>
            <a:ext cx="10463530" cy="853440"/>
          </a:xfrm>
        </p:spPr>
        <p:txBody>
          <a:bodyPr/>
          <a:lstStyle/>
          <a:p>
            <a:r>
              <a:rPr kumimoji="1"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指导教师：集成电路学院 揭路</a:t>
            </a:r>
            <a:endParaRPr kumimoji="1" lang="zh-TW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</p:nvPr>
        </p:nvSpPr>
        <p:spPr>
          <a:xfrm>
            <a:off x="915035" y="5169764"/>
            <a:ext cx="29864504" cy="1368984"/>
          </a:xfrm>
        </p:spPr>
        <p:txBody>
          <a:bodyPr/>
          <a:lstStyle/>
          <a:p>
            <a:r>
              <a:rPr kumimoji="1" lang="en-US" altLang="zh-TW" sz="8000" b="1" dirty="0"/>
              <a:t>D</a:t>
            </a:r>
            <a:r>
              <a:rPr kumimoji="1" lang="en-US" altLang="zh-CN" sz="8000" b="1" dirty="0"/>
              <a:t>eep </a:t>
            </a:r>
            <a:r>
              <a:rPr kumimoji="1" lang="en-US" altLang="zh-TW" sz="8000" b="1" dirty="0"/>
              <a:t>CNN Based on Compute-in-Memory S</a:t>
            </a:r>
            <a:r>
              <a:rPr kumimoji="1" lang="en-US" altLang="zh-CN" sz="8000" b="1" dirty="0"/>
              <a:t>tructure</a:t>
            </a:r>
            <a:endParaRPr lang="zh-CN" altLang="en-US" sz="8000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1"/>
          </p:nvPr>
        </p:nvSpPr>
        <p:spPr>
          <a:xfrm>
            <a:off x="915035" y="6536690"/>
            <a:ext cx="29276040" cy="1749425"/>
          </a:xfrm>
        </p:spPr>
        <p:txBody>
          <a:bodyPr/>
          <a:lstStyle/>
          <a:p>
            <a:r>
              <a:rPr lang="zh-CN" altLang="en-US" dirty="0"/>
              <a:t>基于存算一体架构的深度卷积神经网络实现</a:t>
            </a:r>
            <a:endParaRPr lang="zh-CN" altLang="en-US" dirty="0"/>
          </a:p>
        </p:txBody>
      </p:sp>
      <p:sp>
        <p:nvSpPr>
          <p:cNvPr id="21" name="圆角矩形 10"/>
          <p:cNvSpPr txBox="1"/>
          <p:nvPr/>
        </p:nvSpPr>
        <p:spPr>
          <a:xfrm>
            <a:off x="496987" y="21067001"/>
            <a:ext cx="17203967" cy="124269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50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Training and Optimization</a:t>
            </a: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同侧圆角矩形 8"/>
          <p:cNvSpPr/>
          <p:nvPr/>
        </p:nvSpPr>
        <p:spPr>
          <a:xfrm>
            <a:off x="519430" y="22600285"/>
            <a:ext cx="17204055" cy="19962495"/>
          </a:xfrm>
          <a:custGeom>
            <a:avLst/>
            <a:gdLst>
              <a:gd name="connsiteX0" fmla="*/ 1019319 w 14668567"/>
              <a:gd name="connsiteY0" fmla="*/ 0 h 17854281"/>
              <a:gd name="connsiteX1" fmla="*/ 13649248 w 14668567"/>
              <a:gd name="connsiteY1" fmla="*/ 0 h 17854281"/>
              <a:gd name="connsiteX2" fmla="*/ 14668567 w 14668567"/>
              <a:gd name="connsiteY2" fmla="*/ 1019319 h 17854281"/>
              <a:gd name="connsiteX3" fmla="*/ 14668567 w 14668567"/>
              <a:gd name="connsiteY3" fmla="*/ 17854281 h 17854281"/>
              <a:gd name="connsiteX4" fmla="*/ 14668567 w 14668567"/>
              <a:gd name="connsiteY4" fmla="*/ 17854281 h 17854281"/>
              <a:gd name="connsiteX5" fmla="*/ 0 w 14668567"/>
              <a:gd name="connsiteY5" fmla="*/ 17854281 h 17854281"/>
              <a:gd name="connsiteX6" fmla="*/ 0 w 14668567"/>
              <a:gd name="connsiteY6" fmla="*/ 17854281 h 17854281"/>
              <a:gd name="connsiteX7" fmla="*/ 0 w 14668567"/>
              <a:gd name="connsiteY7" fmla="*/ 1019319 h 17854281"/>
              <a:gd name="connsiteX8" fmla="*/ 1019319 w 14668567"/>
              <a:gd name="connsiteY8" fmla="*/ 0 h 17854281"/>
              <a:gd name="connsiteX0-1" fmla="*/ 1019319 w 14668567"/>
              <a:gd name="connsiteY0-2" fmla="*/ 0 h 17854281"/>
              <a:gd name="connsiteX1-3" fmla="*/ 13598448 w 14668567"/>
              <a:gd name="connsiteY1-4" fmla="*/ 0 h 17854281"/>
              <a:gd name="connsiteX2-5" fmla="*/ 14668567 w 14668567"/>
              <a:gd name="connsiteY2-6" fmla="*/ 1019319 h 17854281"/>
              <a:gd name="connsiteX3-7" fmla="*/ 14668567 w 14668567"/>
              <a:gd name="connsiteY3-8" fmla="*/ 17854281 h 17854281"/>
              <a:gd name="connsiteX4-9" fmla="*/ 14668567 w 14668567"/>
              <a:gd name="connsiteY4-10" fmla="*/ 17854281 h 17854281"/>
              <a:gd name="connsiteX5-11" fmla="*/ 0 w 14668567"/>
              <a:gd name="connsiteY5-12" fmla="*/ 17854281 h 17854281"/>
              <a:gd name="connsiteX6-13" fmla="*/ 0 w 14668567"/>
              <a:gd name="connsiteY6-14" fmla="*/ 17854281 h 17854281"/>
              <a:gd name="connsiteX7-15" fmla="*/ 0 w 14668567"/>
              <a:gd name="connsiteY7-16" fmla="*/ 1019319 h 17854281"/>
              <a:gd name="connsiteX8-17" fmla="*/ 1019319 w 14668567"/>
              <a:gd name="connsiteY8-18" fmla="*/ 0 h 1785428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4668567" h="17854281">
                <a:moveTo>
                  <a:pt x="1019319" y="0"/>
                </a:moveTo>
                <a:lnTo>
                  <a:pt x="13598448" y="0"/>
                </a:lnTo>
                <a:cubicBezTo>
                  <a:pt x="14161402" y="0"/>
                  <a:pt x="14668567" y="456365"/>
                  <a:pt x="14668567" y="1019319"/>
                </a:cubicBezTo>
                <a:lnTo>
                  <a:pt x="14668567" y="17854281"/>
                </a:lnTo>
                <a:lnTo>
                  <a:pt x="14668567" y="17854281"/>
                </a:lnTo>
                <a:lnTo>
                  <a:pt x="0" y="17854281"/>
                </a:lnTo>
                <a:lnTo>
                  <a:pt x="0" y="17854281"/>
                </a:lnTo>
                <a:lnTo>
                  <a:pt x="0" y="1019319"/>
                </a:lnTo>
                <a:cubicBezTo>
                  <a:pt x="0" y="456365"/>
                  <a:pt x="456365" y="0"/>
                  <a:pt x="1019319" y="0"/>
                </a:cubicBezTo>
                <a:close/>
              </a:path>
            </a:pathLst>
          </a:cu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903720" y="22891750"/>
            <a:ext cx="10456545" cy="19558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</a:t>
            </a:r>
            <a:r>
              <a:rPr lang="en-US" altLang="zh-CN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利用数字逻辑补偿模拟计算误差，在保持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存算一体高能效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的同时显著提升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特征提取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的鲁棒性。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98525" y="37224653"/>
            <a:ext cx="8416290" cy="517398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1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无噪声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，使模型快速收敛。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2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量化等级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降低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，让模型适应离散化权重。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Stage 3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：量化等级固定在最低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(4bit)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噪声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 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0.075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。让模型在“恶劣环境”下微调，提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高抗噪性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: 圆角 13"/>
          <p:cNvSpPr/>
          <p:nvPr/>
        </p:nvSpPr>
        <p:spPr>
          <a:xfrm>
            <a:off x="9276080" y="37136705"/>
            <a:ext cx="8387080" cy="534987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变形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 将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4D 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卷积核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重塑为 </a:t>
            </a:r>
            <a:r>
              <a:rPr lang="en-US" altLang="zh-CN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2D 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矩阵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，再转置以适应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RRAM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交叉阵列结构。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两个方向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拆分权重，解决输入或输出通道过大问题。</a:t>
            </a:r>
            <a:endParaRPr lang="en-US" altLang="zh-CN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4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芯片利用率优化</a:t>
            </a:r>
            <a:r>
              <a:rPr lang="en-US" altLang="zh-CN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实现了多层权重在单一芯片上的</a:t>
            </a:r>
            <a:r>
              <a:rPr lang="zh-CN" altLang="en-US" sz="4000" b="1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紧凑排布</a:t>
            </a:r>
            <a:r>
              <a:rPr lang="zh-CN" altLang="en-US" sz="4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  <a:endParaRPr lang="zh-CN" altLang="en-US" sz="4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10162223" y="30489843"/>
            <a:ext cx="6690995" cy="5860415"/>
            <a:chOff x="12350902" y="25625514"/>
            <a:chExt cx="2817624" cy="5486401"/>
          </a:xfrm>
        </p:grpSpPr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49326" y="25625515"/>
              <a:ext cx="1219200" cy="5486400"/>
            </a:xfrm>
            <a:prstGeom prst="rect">
              <a:avLst/>
            </a:prstGeom>
          </p:spPr>
        </p:pic>
        <p:sp>
          <p:nvSpPr>
            <p:cNvPr id="37" name="矩形 36"/>
            <p:cNvSpPr/>
            <p:nvPr/>
          </p:nvSpPr>
          <p:spPr>
            <a:xfrm>
              <a:off x="13946594" y="25625514"/>
              <a:ext cx="594360" cy="2240475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4540954" y="25625514"/>
              <a:ext cx="406400" cy="2240475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3946594" y="27865990"/>
              <a:ext cx="1069340" cy="425812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4540954" y="28767689"/>
              <a:ext cx="406400" cy="229362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13946594" y="28767690"/>
              <a:ext cx="594360" cy="2288540"/>
            </a:xfrm>
            <a:prstGeom prst="rect">
              <a:avLst/>
            </a:pr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3946594" y="28520490"/>
              <a:ext cx="1069340" cy="24211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50902" y="25625515"/>
              <a:ext cx="1219200" cy="5486400"/>
            </a:xfrm>
            <a:prstGeom prst="rect">
              <a:avLst/>
            </a:prstGeom>
          </p:spPr>
        </p:pic>
        <p:sp>
          <p:nvSpPr>
            <p:cNvPr id="16" name="矩形 15"/>
            <p:cNvSpPr/>
            <p:nvPr/>
          </p:nvSpPr>
          <p:spPr>
            <a:xfrm>
              <a:off x="12350902" y="30691379"/>
              <a:ext cx="1219200" cy="393700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3946594" y="28320568"/>
              <a:ext cx="1219200" cy="1948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8" name="直接箭头连接符 27"/>
            <p:cNvCxnSpPr>
              <a:stCxn id="16" idx="3"/>
              <a:endCxn id="39" idx="1"/>
            </p:cNvCxnSpPr>
            <p:nvPr/>
          </p:nvCxnSpPr>
          <p:spPr>
            <a:xfrm flipV="1">
              <a:off x="13570102" y="28078896"/>
              <a:ext cx="376492" cy="280933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同侧圆角矩形 8"/>
          <p:cNvSpPr/>
          <p:nvPr/>
        </p:nvSpPr>
        <p:spPr>
          <a:xfrm>
            <a:off x="17976850" y="22600603"/>
            <a:ext cx="13997940" cy="19961860"/>
          </a:xfrm>
          <a:prstGeom prst="round2SameRect">
            <a:avLst>
              <a:gd name="adj1" fmla="val 6949"/>
              <a:gd name="adj2" fmla="val 0"/>
            </a:avLst>
          </a:prstGeom>
          <a:solidFill>
            <a:srgbClr val="E7E3F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文本框 55"/>
          <p:cNvSpPr txBox="1"/>
          <p:nvPr/>
        </p:nvSpPr>
        <p:spPr>
          <a:xfrm>
            <a:off x="18319750" y="23086695"/>
            <a:ext cx="13312140" cy="18370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/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依托忆阻器的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存算融合与并行计算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特性，我们在手写数字识别的基础上构建了</a:t>
            </a:r>
            <a:r>
              <a:rPr lang="zh-CN" altLang="en-US" sz="40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更复杂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的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深度网络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，实现了垃圾分类任务，并设计了</a:t>
            </a:r>
            <a:r>
              <a:rPr lang="zh-CN" altLang="en-US" sz="40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可视化窗口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用于展示识别过程与结果。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indent="457200"/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8200688" y="38825170"/>
            <a:ext cx="13550265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发挥忆阻器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能效优势，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在等效任务下明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降低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显能耗；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扩展到</a:t>
            </a:r>
            <a:r>
              <a:rPr lang="zh-CN" altLang="en-US" sz="40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更大规模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网络与更</a:t>
            </a:r>
            <a:r>
              <a:rPr lang="zh-CN" altLang="en-US" sz="40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任务（如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识别与分割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）；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lang="en-US" altLang="zh-CN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协同优化，减小器件不一致性带来的误差；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推动忆阻器在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低功耗、实时应用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中的落地。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8243868" y="27331035"/>
            <a:ext cx="5852160" cy="9662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抗噪模型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结构：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具备抗噪能力，模型可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稳定收敛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75000"/>
              </a:lnSpc>
            </a:pPr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加速收敛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训练策略：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模型在</a:t>
            </a:r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2000epoch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以内收敛，训练效率显著提升。</a:t>
            </a:r>
            <a:endParaRPr lang="en-US" altLang="zh-CN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75000"/>
              </a:lnSpc>
            </a:pPr>
            <a:r>
              <a:rPr lang="en-US" altLang="zh-CN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优化权重分布，提高</a:t>
            </a:r>
            <a:r>
              <a:rPr lang="zh-CN" altLang="en-US" sz="40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芯片利用率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（达到</a:t>
            </a:r>
            <a:r>
              <a:rPr lang="en-US" altLang="zh-CN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82.44%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48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RRAM</a:t>
            </a:r>
            <a:r>
              <a:rPr lang="zh-CN" altLang="en-US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仿真器</a:t>
            </a:r>
            <a:r>
              <a:rPr lang="zh-CN" altLang="en-US" sz="4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上测试集准确率：</a:t>
            </a:r>
            <a:r>
              <a:rPr lang="en-US" altLang="zh-CN" sz="4400" b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72.55%</a:t>
            </a:r>
            <a:endParaRPr lang="en-US" altLang="zh-CN" sz="4400" b="1">
              <a:solidFill>
                <a:srgbClr val="7D2C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4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图片占位符 58"/>
          <p:cNvPicPr>
            <a:picLocks noGrp="1" noChangeAspect="1"/>
          </p:cNvPicPr>
          <p:nvPr>
            <p:ph type="pic" sz="quarter" idx="28"/>
          </p:nvPr>
        </p:nvPicPr>
        <p:blipFill>
          <a:blip r:embed="rId3"/>
          <a:stretch>
            <a:fillRect/>
          </a:stretch>
        </p:blipFill>
        <p:spPr>
          <a:xfrm>
            <a:off x="24210645" y="25763220"/>
            <a:ext cx="7357745" cy="12078970"/>
          </a:xfrm>
          <a:prstGeom prst="rect">
            <a:avLst/>
          </a:prstGeom>
        </p:spPr>
      </p:pic>
      <p:sp>
        <p:nvSpPr>
          <p:cNvPr id="60" name="圆角矩形 10"/>
          <p:cNvSpPr txBox="1"/>
          <p:nvPr/>
        </p:nvSpPr>
        <p:spPr>
          <a:xfrm>
            <a:off x="17976850" y="21067001"/>
            <a:ext cx="13998575" cy="124269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875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Results and Discussion</a:t>
            </a: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48385" y="11492230"/>
            <a:ext cx="30433010" cy="225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4000" b="1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    </a:t>
            </a:r>
            <a:r>
              <a:rPr sz="4400" b="1" kern="100" dirty="0" err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存算一体</a:t>
            </a:r>
            <a:r>
              <a:rPr lang="zh-CN" sz="4400" b="1" kern="100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芯片</a:t>
            </a:r>
            <a:r>
              <a:rPr lang="zh-CN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利用</a:t>
            </a:r>
            <a:r>
              <a:rPr lang="zh-CN" sz="4400" b="1" kern="100" dirty="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忆阻器</a:t>
            </a:r>
            <a:r>
              <a:rPr lang="zh-CN" altLang="en-US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等</a:t>
            </a:r>
            <a:r>
              <a:rPr sz="4000" b="1" kern="100" dirty="0" err="1">
                <a:latin typeface="微软雅黑" panose="020B0503020204020204" charset="-122"/>
                <a:ea typeface="微软雅黑" panose="020B0503020204020204" charset="-122"/>
                <a:cs typeface="+mn-ea"/>
              </a:rPr>
              <a:t>元件将计算和存储功能</a:t>
            </a:r>
            <a:r>
              <a:rPr lang="zh-CN" altLang="en-US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融合</a:t>
            </a:r>
            <a:r>
              <a:rPr lang="zh-CN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，</a:t>
            </a:r>
            <a:r>
              <a:rPr sz="4400" b="1" kern="100" dirty="0" err="1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提高了计算</a:t>
            </a:r>
            <a:r>
              <a:rPr lang="zh-CN" sz="4400" b="1" kern="100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性能</a:t>
            </a:r>
            <a:r>
              <a:rPr lang="zh-CN" sz="4000" b="1" kern="100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并</a:t>
            </a:r>
            <a:r>
              <a:rPr sz="4400" b="1" kern="100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降低了能耗</a:t>
            </a:r>
            <a:r>
              <a:rPr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。卷积神经网络 (CNN) </a:t>
            </a:r>
            <a:r>
              <a:rPr sz="4000" b="1" kern="100" dirty="0" err="1">
                <a:latin typeface="微软雅黑" panose="020B0503020204020204" charset="-122"/>
                <a:ea typeface="微软雅黑" panose="020B0503020204020204" charset="-122"/>
                <a:cs typeface="+mn-ea"/>
              </a:rPr>
              <a:t>是一种专门处理图像数据的神经网络架构</a:t>
            </a:r>
            <a:r>
              <a:rPr lang="zh-CN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，在网络</a:t>
            </a:r>
            <a:r>
              <a:rPr lang="zh-CN" altLang="en-US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中存在大量矩阵乘法和卷积算法，</a:t>
            </a:r>
            <a:r>
              <a:rPr lang="zh-CN" altLang="en-US" sz="4400" b="1" kern="100" dirty="0">
                <a:solidFill>
                  <a:srgbClr val="7D2C8A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存算一体芯片可以显著加快该类算法的计算速度</a:t>
            </a:r>
            <a:r>
              <a:rPr lang="zh-CN" altLang="en-US" sz="4000" b="1" kern="1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。而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深度神经网络在忆阻器芯片上的部署仍面临挑战，主要包括模拟计算单元的非理想特性导致的精度损失、训练与推理平台间的数值适配差异。</a:t>
            </a:r>
            <a:endParaRPr lang="zh-CN" altLang="en-US" sz="4000" b="1" kern="1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1506068" y="19897477"/>
            <a:ext cx="7177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</a:rPr>
              <a:t>模拟存算一体的计算流程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2063161" y="19897725"/>
            <a:ext cx="642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神经网络的基本架构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2981285" y="19897409"/>
            <a:ext cx="6426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MobileNetV3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架构图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4" name="图片 63" descr="图片包含 图示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7377" y="13908405"/>
            <a:ext cx="9374505" cy="5760000"/>
          </a:xfrm>
          <a:prstGeom prst="rect">
            <a:avLst/>
          </a:prstGeom>
        </p:spPr>
      </p:pic>
      <p:pic>
        <p:nvPicPr>
          <p:cNvPr id="65" name="图片 64" descr="图示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934" y="13908405"/>
            <a:ext cx="7759448" cy="5760000"/>
          </a:xfrm>
          <a:prstGeom prst="rect">
            <a:avLst/>
          </a:prstGeom>
        </p:spPr>
      </p:pic>
      <p:pic>
        <p:nvPicPr>
          <p:cNvPr id="66" name="图片 65" descr="图示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917" y="13908405"/>
            <a:ext cx="11845925" cy="5760000"/>
          </a:xfrm>
          <a:prstGeom prst="rect">
            <a:avLst/>
          </a:prstGeom>
        </p:spPr>
      </p:pic>
      <p:sp>
        <p:nvSpPr>
          <p:cNvPr id="68" name="圆角矩形 10"/>
          <p:cNvSpPr>
            <a:spLocks noGrp="1"/>
          </p:cNvSpPr>
          <p:nvPr/>
        </p:nvSpPr>
        <p:spPr>
          <a:xfrm>
            <a:off x="424180" y="9476740"/>
            <a:ext cx="31551245" cy="1492250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mpd="sng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zh-CN" sz="72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圆角矩形 10"/>
          <p:cNvSpPr txBox="1"/>
          <p:nvPr/>
        </p:nvSpPr>
        <p:spPr>
          <a:xfrm>
            <a:off x="18588990" y="26017220"/>
            <a:ext cx="4780915" cy="101917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75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Main Pros</a:t>
            </a: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1" name="圆角矩形 10"/>
          <p:cNvSpPr txBox="1"/>
          <p:nvPr/>
        </p:nvSpPr>
        <p:spPr>
          <a:xfrm>
            <a:off x="18588990" y="37559615"/>
            <a:ext cx="4780915" cy="101917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rmAutofit fontScale="67500"/>
          </a:bodyPr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Outlook</a:t>
            </a:r>
            <a:endParaRPr lang="en-US" altLang="zh-CN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圆角矩形 10"/>
          <p:cNvSpPr txBox="1"/>
          <p:nvPr/>
        </p:nvSpPr>
        <p:spPr>
          <a:xfrm>
            <a:off x="1048385" y="23360063"/>
            <a:ext cx="5619115" cy="101917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bg1"/>
                </a:solidFill>
                <a:sym typeface="+mn-ea"/>
              </a:rPr>
              <a:t>数模混合增强架构</a:t>
            </a:r>
            <a:endParaRPr lang="zh-CN" altLang="en-US" sz="48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5" name="圆角矩形 10"/>
          <p:cNvSpPr txBox="1"/>
          <p:nvPr/>
        </p:nvSpPr>
        <p:spPr>
          <a:xfrm>
            <a:off x="1976755" y="29135705"/>
            <a:ext cx="6409055" cy="101917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bg1"/>
                </a:solidFill>
                <a:sym typeface="+mn-ea"/>
              </a:rPr>
              <a:t>三阶段抗噪训练策略</a:t>
            </a:r>
            <a:endParaRPr lang="zh-CN" altLang="en-US" sz="48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圆角矩形 10"/>
          <p:cNvSpPr txBox="1"/>
          <p:nvPr/>
        </p:nvSpPr>
        <p:spPr>
          <a:xfrm>
            <a:off x="11117263" y="29135705"/>
            <a:ext cx="4780915" cy="1019175"/>
          </a:xfrm>
          <a:prstGeom prst="roundRect">
            <a:avLst>
              <a:gd name="adj" fmla="val 31897"/>
            </a:avLst>
          </a:prstGeom>
          <a:gradFill>
            <a:gsLst>
              <a:gs pos="95000">
                <a:srgbClr val="8563B8"/>
              </a:gs>
              <a:gs pos="75000">
                <a:srgbClr val="7E4DA8">
                  <a:alpha val="100000"/>
                </a:srgbClr>
              </a:gs>
              <a:gs pos="47000">
                <a:srgbClr val="763697">
                  <a:alpha val="100000"/>
                </a:srgbClr>
              </a:gs>
              <a:gs pos="0">
                <a:srgbClr val="670875"/>
              </a:gs>
            </a:gsLst>
            <a:lin ang="0" scaled="0"/>
          </a:gradFill>
          <a:ln w="12700" cap="flat" cmpd="sng" algn="ctr">
            <a:solidFill>
              <a:srgbClr val="AEB5C0">
                <a:alpha val="100000"/>
              </a:srgbClr>
            </a:solidFill>
            <a:prstDash val="solid"/>
            <a:miter lim="800000"/>
          </a:ln>
          <a:effectLst>
            <a:outerShdw blurRad="190500" dist="63500" dir="5400000" algn="t" rotWithShape="0">
              <a:srgbClr val="000000">
                <a:alpha val="85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lvl1pPr marL="0" indent="0" algn="l" defTabSz="3239770" rtl="0" eaLnBrk="1" latinLnBrk="0" hangingPunct="1">
              <a:lnSpc>
                <a:spcPct val="90000"/>
              </a:lnSpc>
              <a:spcBef>
                <a:spcPts val="3545"/>
              </a:spcBef>
              <a:spcAft>
                <a:spcPts val="6000"/>
              </a:spcAft>
              <a:buFont typeface="Arial" panose="020B0604020202020204" pitchFamily="34" charset="0"/>
              <a:buNone/>
              <a:defRPr sz="7200" b="1" kern="1200">
                <a:solidFill>
                  <a:srgbClr val="670875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108013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spcAft>
                <a:spcPts val="1000"/>
              </a:spcAft>
              <a:buFont typeface="Arial" panose="020B0604020202020204" pitchFamily="34" charset="0"/>
              <a:buNone/>
              <a:defRPr sz="6000" b="1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080135" indent="1043940" algn="l" defTabSz="3239770" rtl="0" eaLnBrk="1" latinLnBrk="0" hangingPunct="1">
              <a:lnSpc>
                <a:spcPct val="105000"/>
              </a:lnSpc>
              <a:spcBef>
                <a:spcPts val="900"/>
              </a:spcBef>
              <a:buFont typeface="Arial" panose="020B0604020202020204" pitchFamily="34" charset="0"/>
              <a:buNone/>
              <a:defRPr sz="40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4859655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36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6479540" indent="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None/>
              <a:defRPr sz="4400" kern="12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890968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052957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149455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769340" indent="-810260" algn="l" defTabSz="3239770" rtl="0" eaLnBrk="1" latinLnBrk="0" hangingPunct="1">
              <a:lnSpc>
                <a:spcPct val="90000"/>
              </a:lnSpc>
              <a:spcBef>
                <a:spcPts val="1770"/>
              </a:spcBef>
              <a:buFont typeface="Arial" panose="020B0604020202020204" pitchFamily="34" charset="0"/>
              <a:buChar char="•"/>
              <a:defRPr sz="638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bg1"/>
                </a:solidFill>
                <a:sym typeface="+mn-ea"/>
              </a:rPr>
              <a:t>权重部署</a:t>
            </a:r>
            <a:endParaRPr lang="zh-CN" altLang="en-US" sz="4800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716915" y="25095835"/>
            <a:ext cx="16809720" cy="3589020"/>
            <a:chOff x="1475" y="39761"/>
            <a:chExt cx="26472" cy="5652"/>
          </a:xfrm>
        </p:grpSpPr>
        <p:grpSp>
          <p:nvGrpSpPr>
            <p:cNvPr id="9" name="组合 8"/>
            <p:cNvGrpSpPr/>
            <p:nvPr/>
          </p:nvGrpSpPr>
          <p:grpSpPr>
            <a:xfrm>
              <a:off x="6006" y="39761"/>
              <a:ext cx="7288" cy="5652"/>
              <a:chOff x="6873" y="39761"/>
              <a:chExt cx="7288" cy="5652"/>
            </a:xfrm>
          </p:grpSpPr>
          <p:sp>
            <p:nvSpPr>
              <p:cNvPr id="15" name="矩形: 圆角 14"/>
              <p:cNvSpPr/>
              <p:nvPr/>
            </p:nvSpPr>
            <p:spPr>
              <a:xfrm>
                <a:off x="7649" y="40493"/>
                <a:ext cx="5735" cy="2096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0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量化卷积层</a:t>
                </a:r>
                <a:endParaRPr lang="zh-CN" altLang="en-US" sz="4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6873" y="39761"/>
                <a:ext cx="7288" cy="5652"/>
              </a:xfrm>
              <a:prstGeom prst="rect">
                <a:avLst/>
              </a:prstGeom>
              <a:noFill/>
              <a:ln w="57150">
                <a:solidFill>
                  <a:schemeClr val="accent5">
                    <a:lumMod val="60000"/>
                    <a:lumOff val="40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6879" y="43041"/>
                <a:ext cx="7276" cy="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模拟域</a:t>
                </a:r>
                <a:endParaRPr lang="en-US" altLang="zh-CN" sz="3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en-US" altLang="zh-CN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RRAM</a:t>
                </a:r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阵列</a:t>
                </a:r>
                <a:r>
                  <a:rPr lang="en-US" altLang="zh-CN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/</a:t>
                </a:r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高噪声）</a:t>
                </a:r>
                <a:endParaRPr lang="zh-CN" altLang="en-US" sz="3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35" y="39761"/>
              <a:ext cx="8386" cy="5652"/>
              <a:chOff x="15195" y="39761"/>
              <a:chExt cx="8386" cy="5652"/>
            </a:xfrm>
          </p:grpSpPr>
          <p:sp>
            <p:nvSpPr>
              <p:cNvPr id="17" name="矩形: 圆角 16"/>
              <p:cNvSpPr/>
              <p:nvPr/>
            </p:nvSpPr>
            <p:spPr>
              <a:xfrm>
                <a:off x="16255" y="40471"/>
                <a:ext cx="6267" cy="211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4000" b="1" dirty="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数字增强层</a:t>
                </a:r>
                <a:endParaRPr lang="zh-CN" altLang="en-US" sz="40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15889" y="39761"/>
                <a:ext cx="6999" cy="5652"/>
              </a:xfrm>
              <a:prstGeom prst="rect">
                <a:avLst/>
              </a:prstGeom>
              <a:noFill/>
              <a:ln w="57150">
                <a:solidFill>
                  <a:schemeClr val="accent5">
                    <a:lumMod val="60000"/>
                    <a:lumOff val="40000"/>
                  </a:schemeClr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5195" y="43097"/>
                <a:ext cx="8387" cy="1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数字域</a:t>
                </a:r>
                <a:endParaRPr lang="en-US" altLang="zh-CN" sz="3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algn="ctr"/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（</a:t>
                </a:r>
                <a:r>
                  <a:rPr lang="en-US" altLang="zh-CN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GPU/</a:t>
                </a:r>
                <a:r>
                  <a:rPr lang="zh-CN" altLang="en-US" sz="3600" b="1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高精度）</a:t>
                </a:r>
                <a:endParaRPr lang="zh-CN" altLang="en-US" sz="3600" b="1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cxnSp>
          <p:nvCxnSpPr>
            <p:cNvPr id="26" name="直接箭头连接符 25"/>
            <p:cNvCxnSpPr/>
            <p:nvPr/>
          </p:nvCxnSpPr>
          <p:spPr>
            <a:xfrm>
              <a:off x="4055" y="42587"/>
              <a:ext cx="1892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>
              <a:off x="13473" y="42587"/>
              <a:ext cx="1943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>
              <a:off x="23000" y="42587"/>
              <a:ext cx="1967" cy="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1475" y="41488"/>
              <a:ext cx="2841" cy="22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4000" b="1" dirty="0">
                  <a:latin typeface="微软雅黑" panose="020B0503020204020204" charset="-122"/>
                  <a:ea typeface="微软雅黑" panose="020B0503020204020204" charset="-122"/>
                </a:rPr>
                <a:t>输入特征图</a:t>
              </a:r>
              <a:endParaRPr lang="zh-CN" altLang="en-US" sz="4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25106" y="41487"/>
              <a:ext cx="2841" cy="196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4000" b="1" dirty="0">
                  <a:latin typeface="微软雅黑" panose="020B0503020204020204" charset="-122"/>
                  <a:ea typeface="微软雅黑" panose="020B0503020204020204" charset="-122"/>
                </a:rPr>
                <a:t>输</a:t>
              </a:r>
              <a:r>
                <a:rPr lang="zh-CN" altLang="en-US" sz="4000" b="1" dirty="0">
                  <a:latin typeface="微软雅黑" panose="020B0503020204020204" charset="-122"/>
                  <a:ea typeface="微软雅黑" panose="020B0503020204020204" charset="-122"/>
                </a:rPr>
                <a:t>出特征图</a:t>
              </a:r>
              <a:endParaRPr lang="zh-CN" altLang="en-US" sz="40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3" name="图片 32" descr="ac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385" y="30443805"/>
            <a:ext cx="8265795" cy="5952490"/>
          </a:xfrm>
          <a:prstGeom prst="rect">
            <a:avLst/>
          </a:prstGeom>
          <a:ln>
            <a:solidFill>
              <a:srgbClr val="000000">
                <a:alpha val="0"/>
              </a:srgbClr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24532590" y="37956174"/>
            <a:ext cx="6426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垃圾分类系统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示意图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68183" y="36459002"/>
            <a:ext cx="6426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训练和验证准确率曲线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162223" y="36459002"/>
            <a:ext cx="66909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 </a:t>
            </a:r>
            <a:r>
              <a:rPr lang="en-US" altLang="zh-CN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RRAM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芯片权重排布图</a:t>
            </a:r>
            <a:endParaRPr lang="zh-CN" altLang="en-US" sz="40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空白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基础科学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1039</Words>
  <Application>WPS 演示</Application>
  <PresentationFormat>自定义</PresentationFormat>
  <Paragraphs>81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 Light</vt:lpstr>
      <vt:lpstr>Times New Roman</vt:lpstr>
      <vt:lpstr>Calibri</vt:lpstr>
      <vt:lpstr>Arial Unicode MS</vt:lpstr>
      <vt:lpstr>等线</vt:lpstr>
      <vt:lpstr>空白母版</vt:lpstr>
      <vt:lpstr>基础科学</vt:lpstr>
      <vt:lpstr>小组成员：王榕  陈卓妍  闫凯翔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朔</cp:lastModifiedBy>
  <cp:revision>23</cp:revision>
  <dcterms:created xsi:type="dcterms:W3CDTF">2021-03-13T08:56:00Z</dcterms:created>
  <dcterms:modified xsi:type="dcterms:W3CDTF">2026-06-04T02:41:05Z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C80C067BBD3A4A51B0DE798DAACF1F55_13</vt:lpwstr>
  </property>
  <property fmtid="{D5CDD505-2E9C-101B-9397-08002B2CF9AE}" pid="3" name="KSOProductBuildVer">
    <vt:lpwstr>2052-12.1.0.26375</vt:lpwstr>
  </property>
</Properties>
</file>